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28"/>
  </p:notesMasterIdLst>
  <p:sldIdLst>
    <p:sldId id="256" r:id="rId2"/>
    <p:sldId id="257" r:id="rId3"/>
    <p:sldId id="268" r:id="rId4"/>
    <p:sldId id="269" r:id="rId5"/>
    <p:sldId id="259" r:id="rId6"/>
    <p:sldId id="260" r:id="rId7"/>
    <p:sldId id="270" r:id="rId8"/>
    <p:sldId id="262" r:id="rId9"/>
    <p:sldId id="263" r:id="rId10"/>
    <p:sldId id="287" r:id="rId11"/>
    <p:sldId id="264" r:id="rId12"/>
    <p:sldId id="265" r:id="rId13"/>
    <p:sldId id="266" r:id="rId14"/>
    <p:sldId id="267" r:id="rId15"/>
    <p:sldId id="272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289" autoAdjust="0"/>
    <p:restoredTop sz="83106"/>
  </p:normalViewPr>
  <p:slideViewPr>
    <p:cSldViewPr snapToGrid="0" showGuides="1">
      <p:cViewPr varScale="1">
        <p:scale>
          <a:sx n="61" d="100"/>
          <a:sy n="61" d="100"/>
        </p:scale>
        <p:origin x="1024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75DD39-5CA8-F647-A918-C23C3B1AEC01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8F84FE-F1D6-444B-966F-42EB4B2A5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604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8F84FE-F1D6-444B-966F-42EB4B2A5416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7397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8F84FE-F1D6-444B-966F-42EB4B2A5416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6254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2BA08C2-1606-4D7C-922E-E46A332AC2F6}" type="datetimeFigureOut">
              <a:rPr lang="en-ID" smtClean="0"/>
              <a:t>27/08/2025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2BDCDED-B02E-4569-8F40-7EF06BD017F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08129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A08C2-1606-4D7C-922E-E46A332AC2F6}" type="datetimeFigureOut">
              <a:rPr lang="en-ID" smtClean="0"/>
              <a:t>27/08/2025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62BDCDED-B02E-4569-8F40-7EF06BD017F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14170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2BA08C2-1606-4D7C-922E-E46A332AC2F6}" type="datetimeFigureOut">
              <a:rPr lang="en-ID" smtClean="0"/>
              <a:t>27/08/2025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2BDCDED-B02E-4569-8F40-7EF06BD017F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239003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A08C2-1606-4D7C-922E-E46A332AC2F6}" type="datetimeFigureOut">
              <a:rPr lang="en-ID" smtClean="0"/>
              <a:t>27/08/2025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DCDED-B02E-4569-8F40-7EF06BD017F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888641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A08C2-1606-4D7C-922E-E46A332AC2F6}" type="datetimeFigureOut">
              <a:rPr lang="en-ID" smtClean="0"/>
              <a:t>27/08/2025</a:t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DCDED-B02E-4569-8F40-7EF06BD017F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75876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A08C2-1606-4D7C-922E-E46A332AC2F6}" type="datetimeFigureOut">
              <a:rPr lang="en-ID" smtClean="0"/>
              <a:t>27/08/2025</a:t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DCDED-B02E-4569-8F40-7EF06BD017F9}" type="slidenum">
              <a:rPr lang="en-ID" smtClean="0"/>
              <a:t>‹#›</a:t>
            </a:fld>
            <a:endParaRPr lang="en-ID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7582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A08C2-1606-4D7C-922E-E46A332AC2F6}" type="datetimeFigureOut">
              <a:rPr lang="en-ID" smtClean="0"/>
              <a:t>27/08/2025</a:t>
            </a:fld>
            <a:endParaRPr lang="en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DCDED-B02E-4569-8F40-7EF06BD017F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5745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2BA08C2-1606-4D7C-922E-E46A332AC2F6}" type="datetimeFigureOut">
              <a:rPr lang="en-ID" smtClean="0"/>
              <a:t>27/08/2025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2BDCDED-B02E-4569-8F40-7EF06BD017F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59783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A08C2-1606-4D7C-922E-E46A332AC2F6}" type="datetimeFigureOut">
              <a:rPr lang="en-ID" smtClean="0"/>
              <a:t>27/08/2025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DCDED-B02E-4569-8F40-7EF06BD017F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30987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A08C2-1606-4D7C-922E-E46A332AC2F6}" type="datetimeFigureOut">
              <a:rPr lang="en-ID" smtClean="0"/>
              <a:t>27/08/2025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DCDED-B02E-4569-8F40-7EF06BD017F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77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2BA08C2-1606-4D7C-922E-E46A332AC2F6}" type="datetimeFigureOut">
              <a:rPr lang="en-ID" smtClean="0"/>
              <a:t>27/08/2025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2BDCDED-B02E-4569-8F40-7EF06BD017F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82840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C2BA08C2-1606-4D7C-922E-E46A332AC2F6}" type="datetimeFigureOut">
              <a:rPr lang="en-ID" smtClean="0"/>
              <a:t>27/08/2025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62BDCDED-B02E-4569-8F40-7EF06BD017F9}" type="slidenum">
              <a:rPr lang="en-ID" smtClean="0"/>
              <a:t>‹#›</a:t>
            </a:fld>
            <a:endParaRPr lang="en-ID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898399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67F3B-7DB1-442C-BC1E-92460BEC45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9225" y="1653477"/>
            <a:ext cx="10993549" cy="1475013"/>
          </a:xfrm>
        </p:spPr>
        <p:txBody>
          <a:bodyPr>
            <a:normAutofit/>
          </a:bodyPr>
          <a:lstStyle/>
          <a:p>
            <a:r>
              <a:rPr lang="en-US" sz="4800" dirty="0" err="1">
                <a:latin typeface="Arial Black" panose="020B0A04020102020204" pitchFamily="34" charset="0"/>
              </a:rPr>
              <a:t>Jenis-jenis</a:t>
            </a:r>
            <a:r>
              <a:rPr lang="en-US" sz="4800" dirty="0">
                <a:latin typeface="Arial Black" panose="020B0A04020102020204" pitchFamily="34" charset="0"/>
              </a:rPr>
              <a:t> </a:t>
            </a:r>
            <a:r>
              <a:rPr lang="en-US" sz="4800" dirty="0" err="1">
                <a:latin typeface="Arial Black" panose="020B0A04020102020204" pitchFamily="34" charset="0"/>
              </a:rPr>
              <a:t>bilangan</a:t>
            </a:r>
            <a:endParaRPr lang="en-ID" sz="4800" dirty="0">
              <a:latin typeface="Arial Black" panose="020B0A040201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CA8C90-C113-4C65-9A2E-B066B8399B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8052" y="3537130"/>
            <a:ext cx="10236242" cy="953847"/>
          </a:xfrm>
        </p:spPr>
        <p:txBody>
          <a:bodyPr>
            <a:normAutofit/>
          </a:bodyPr>
          <a:lstStyle/>
          <a:p>
            <a:r>
              <a:rPr lang="en-US" sz="2000" cap="none" dirty="0" err="1">
                <a:solidFill>
                  <a:schemeClr val="accent2">
                    <a:lumMod val="20000"/>
                    <a:lumOff val="80000"/>
                  </a:schemeClr>
                </a:solidFill>
                <a:latin typeface="Arial Rounded MT Bold" panose="020F0704030504030204" pitchFamily="34" charset="0"/>
              </a:rPr>
              <a:t>Adevian</a:t>
            </a:r>
            <a:r>
              <a:rPr lang="en-US" sz="2000" cap="none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 Rounded MT Bold" panose="020F0704030504030204" pitchFamily="34" charset="0"/>
              </a:rPr>
              <a:t> Fairuz </a:t>
            </a:r>
            <a:r>
              <a:rPr lang="en-US" sz="2000" cap="none" dirty="0" err="1">
                <a:solidFill>
                  <a:schemeClr val="accent2">
                    <a:lumMod val="20000"/>
                    <a:lumOff val="80000"/>
                  </a:schemeClr>
                </a:solidFill>
                <a:latin typeface="Arial Rounded MT Bold" panose="020F0704030504030204" pitchFamily="34" charset="0"/>
              </a:rPr>
              <a:t>Pratama</a:t>
            </a:r>
            <a:r>
              <a:rPr lang="en-US" sz="2000" cap="none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 Rounded MT Bold" panose="020F0704030504030204" pitchFamily="34" charset="0"/>
              </a:rPr>
              <a:t>, S.ST., </a:t>
            </a:r>
            <a:r>
              <a:rPr lang="en-US" sz="2000" cap="none" dirty="0" err="1">
                <a:solidFill>
                  <a:schemeClr val="accent2">
                    <a:lumMod val="20000"/>
                    <a:lumOff val="80000"/>
                  </a:schemeClr>
                </a:solidFill>
                <a:latin typeface="Arial Rounded MT Bold" panose="020F0704030504030204" pitchFamily="34" charset="0"/>
              </a:rPr>
              <a:t>M.Eng</a:t>
            </a:r>
            <a:endParaRPr lang="en-US" sz="2000" cap="none" dirty="0">
              <a:solidFill>
                <a:schemeClr val="accent2">
                  <a:lumMod val="20000"/>
                  <a:lumOff val="80000"/>
                </a:schemeClr>
              </a:solidFill>
              <a:latin typeface="Arial Rounded MT Bold" panose="020F0704030504030204" pitchFamily="34" charset="0"/>
            </a:endParaRPr>
          </a:p>
          <a:p>
            <a:r>
              <a:rPr lang="en-US" sz="2000" cap="none" dirty="0" err="1">
                <a:solidFill>
                  <a:schemeClr val="accent2">
                    <a:lumMod val="20000"/>
                    <a:lumOff val="80000"/>
                  </a:schemeClr>
                </a:solidFill>
                <a:latin typeface="Arial Rounded MT Bold" panose="020F0704030504030204" pitchFamily="34" charset="0"/>
              </a:rPr>
              <a:t>Sistem</a:t>
            </a:r>
            <a:r>
              <a:rPr lang="en-US" sz="2000" cap="none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en-US" sz="2000" cap="none" dirty="0" err="1">
                <a:solidFill>
                  <a:schemeClr val="accent2">
                    <a:lumMod val="20000"/>
                    <a:lumOff val="80000"/>
                  </a:schemeClr>
                </a:solidFill>
                <a:latin typeface="Arial Rounded MT Bold" panose="020F0704030504030204" pitchFamily="34" charset="0"/>
              </a:rPr>
              <a:t>Informasi</a:t>
            </a:r>
            <a:r>
              <a:rPr lang="en-US" sz="2000" cap="none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en-US" sz="2000" cap="none" dirty="0" err="1">
                <a:solidFill>
                  <a:schemeClr val="accent2">
                    <a:lumMod val="20000"/>
                    <a:lumOff val="80000"/>
                  </a:schemeClr>
                </a:solidFill>
                <a:latin typeface="Arial Rounded MT Bold" panose="020F0704030504030204" pitchFamily="34" charset="0"/>
              </a:rPr>
              <a:t>Bisnis</a:t>
            </a:r>
            <a:r>
              <a:rPr lang="en-US" sz="2000" cap="none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 Rounded MT Bold" panose="020F0704030504030204" pitchFamily="34" charset="0"/>
              </a:rPr>
              <a:t> | </a:t>
            </a:r>
            <a:r>
              <a:rPr lang="en-US" sz="2000" cap="none" dirty="0" err="1">
                <a:solidFill>
                  <a:schemeClr val="accent2">
                    <a:lumMod val="20000"/>
                    <a:lumOff val="80000"/>
                  </a:schemeClr>
                </a:solidFill>
                <a:latin typeface="Arial Rounded MT Bold" panose="020F0704030504030204" pitchFamily="34" charset="0"/>
              </a:rPr>
              <a:t>Politeknik</a:t>
            </a:r>
            <a:r>
              <a:rPr lang="en-US" sz="2000" cap="none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 Rounded MT Bold" panose="020F0704030504030204" pitchFamily="34" charset="0"/>
              </a:rPr>
              <a:t> Negeri Malang | </a:t>
            </a:r>
            <a:r>
              <a:rPr lang="en-ID" sz="2000" cap="none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 Rounded MT Bold" panose="020F0704030504030204" pitchFamily="34" charset="0"/>
              </a:rPr>
              <a:t>2023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352DF2-9AD6-470D-89E5-2D850E7DE1E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5925" y="226568"/>
            <a:ext cx="1288256" cy="1296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62493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688CA-2EFE-4503-B036-DB3351DD7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5796"/>
            <a:ext cx="10515600" cy="846626"/>
          </a:xfrm>
        </p:spPr>
        <p:txBody>
          <a:bodyPr>
            <a:normAutofit/>
          </a:bodyPr>
          <a:lstStyle/>
          <a:p>
            <a:r>
              <a:rPr lang="en-US" sz="4000" dirty="0"/>
              <a:t>Pretests </a:t>
            </a:r>
            <a:endParaRPr lang="en-ID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F917F13-1E61-4D40-AAE8-54EE894B49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99138"/>
                <a:ext cx="10515600" cy="4607170"/>
              </a:xfrm>
            </p:spPr>
            <p:txBody>
              <a:bodyPr>
                <a:normAutofit/>
              </a:bodyPr>
              <a:lstStyle/>
              <a:p>
                <a:pPr marL="528638" indent="-528638">
                  <a:buNone/>
                </a:pP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1.   </a:t>
                </a:r>
                <a:r>
                  <a:rPr lang="en-US" sz="1600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Tempatkan</a:t>
                </a: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simbol</a:t>
                </a: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yang </a:t>
                </a:r>
                <a:r>
                  <a:rPr lang="en-US" sz="1600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sesuai</a:t>
                </a: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atau</a:t>
                </a: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diantara</a:t>
                </a: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masing-masing </a:t>
                </a:r>
                <a:r>
                  <a:rPr lang="en-US" sz="1600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pasangan</a:t>
                </a: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berikut</a:t>
                </a: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:</a:t>
                </a:r>
              </a:p>
              <a:p>
                <a:pPr marL="544513" indent="0">
                  <a:buNone/>
                </a:pP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a) 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−3       −2</m:t>
                    </m:r>
                  </m:oMath>
                </a14:m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		b)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8       −13</m:t>
                    </m:r>
                  </m:oMath>
                </a14:m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	c)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−25        0</m:t>
                    </m:r>
                  </m:oMath>
                </a14:m>
                <a:endParaRPr lang="en-US" sz="1600" dirty="0"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2.   </a:t>
                </a:r>
                <a:r>
                  <a:rPr lang="en-US" sz="1600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Tentukan</a:t>
                </a: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nilai</a:t>
                </a: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dari</a:t>
                </a: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masing-masing </a:t>
                </a:r>
                <a:r>
                  <a:rPr lang="en-US" sz="1600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berikut</a:t>
                </a: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: </a:t>
                </a:r>
              </a:p>
              <a:p>
                <a:pPr marL="544513" indent="0">
                  <a:buNone/>
                </a:pPr>
                <a:r>
                  <a:rPr lang="en-US" sz="1600" b="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a)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13+9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÷3−2×5</m:t>
                    </m:r>
                  </m:oMath>
                </a14:m>
                <a:r>
                  <a:rPr lang="en-ID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	b)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(13+9)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÷(3−2)×5</m:t>
                    </m:r>
                  </m:oMath>
                </a14:m>
                <a:endParaRPr lang="en-US" sz="1600" dirty="0"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3.   </a:t>
                </a:r>
                <a:r>
                  <a:rPr lang="en-US" sz="1600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Bulatkan</a:t>
                </a: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setiap</a:t>
                </a: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angka</a:t>
                </a: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mendekati</a:t>
                </a: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10, 100</m:t>
                    </m:r>
                  </m:oMath>
                </a14:m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dan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1000</m:t>
                    </m:r>
                  </m:oMath>
                </a14:m>
                <a:endParaRPr lang="en-US" sz="1600" dirty="0"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endParaRPr>
              </a:p>
              <a:p>
                <a:pPr marL="544513" indent="0">
                  <a:buNone/>
                </a:pP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a) 1354	b) 2501	c)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−2452</m:t>
                    </m:r>
                  </m:oMath>
                </a14:m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	d)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−23625</m:t>
                    </m:r>
                  </m:oMath>
                </a14:m>
                <a:endParaRPr lang="en-US" sz="1600" dirty="0"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4.   </a:t>
                </a:r>
                <a:r>
                  <a:rPr lang="en-US" sz="1600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Tuliskan</a:t>
                </a: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masing-masing </a:t>
                </a:r>
                <a:r>
                  <a:rPr lang="en-US" sz="1600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berikut</a:t>
                </a: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sebagai</a:t>
                </a: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hasil</a:t>
                </a: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kali </a:t>
                </a:r>
                <a:r>
                  <a:rPr lang="en-US" sz="1600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dari</a:t>
                </a: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faktor-faktor</a:t>
                </a: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prima!</a:t>
                </a:r>
              </a:p>
              <a:p>
                <a:pPr marL="544513" indent="0">
                  <a:buNone/>
                </a:pPr>
                <a:r>
                  <a:rPr lang="en-US" sz="1600" b="0" dirty="0">
                    <a:ea typeface="Tahoma" panose="020B0604030504040204" pitchFamily="34" charset="0"/>
                    <a:cs typeface="Times New Roman" panose="02020603050405020304" pitchFamily="18" charset="0"/>
                  </a:rPr>
                  <a:t>a)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rPr>
                      <m:t>170</m:t>
                    </m:r>
                  </m:oMath>
                </a14:m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	b)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rPr>
                      <m:t>455</m:t>
                    </m:r>
                  </m:oMath>
                </a14:m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	c)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rPr>
                      <m:t>9075</m:t>
                    </m:r>
                  </m:oMath>
                </a14:m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	d)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rPr>
                      <m:t>1140</m:t>
                    </m:r>
                  </m:oMath>
                </a14:m>
                <a:endParaRPr lang="en-US" sz="1600" dirty="0"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5.   </a:t>
                </a:r>
                <a:r>
                  <a:rPr lang="en-US" sz="1600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Temukan</a:t>
                </a: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KPK dan FPB </a:t>
                </a:r>
                <a:r>
                  <a:rPr lang="en-US" sz="1600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dari</a:t>
                </a: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dari</a:t>
                </a: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setiap</a:t>
                </a: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pasangan</a:t>
                </a: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bilangan</a:t>
                </a: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:</a:t>
                </a:r>
              </a:p>
              <a:p>
                <a:pPr marL="544513" indent="0">
                  <a:buNone/>
                </a:pP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a)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rPr>
                      <m:t>84, 88</m:t>
                    </m:r>
                  </m:oMath>
                </a14:m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	b)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rPr>
                      <m:t>105, 66</m:t>
                    </m:r>
                  </m:oMath>
                </a14:m>
                <a:endParaRPr lang="en-US" sz="1600" dirty="0"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6.   </a:t>
                </a:r>
                <a:r>
                  <a:rPr lang="en-US" sz="1600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Sederhanakan</a:t>
                </a: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setiap</a:t>
                </a: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pecahan</a:t>
                </a: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berikut</a:t>
                </a: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menjadi</a:t>
                </a: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suku</a:t>
                </a: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terkecilnya</a:t>
                </a: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:</a:t>
                </a:r>
              </a:p>
              <a:p>
                <a:pPr marL="544513" indent="0">
                  <a:buNone/>
                </a:pP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a)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imes New Roman" panose="02020603050405020304" pitchFamily="18" charset="0"/>
                          </a:rPr>
                          <m:t>12</m:t>
                        </m:r>
                      </m:num>
                      <m:den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imes New Roman" panose="02020603050405020304" pitchFamily="18" charset="0"/>
                          </a:rPr>
                          <m:t>18</m:t>
                        </m:r>
                      </m:den>
                    </m:f>
                  </m:oMath>
                </a14:m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	b)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imes New Roman" panose="02020603050405020304" pitchFamily="18" charset="0"/>
                          </a:rPr>
                          <m:t>144</m:t>
                        </m:r>
                      </m:num>
                      <m:den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imes New Roman" panose="02020603050405020304" pitchFamily="18" charset="0"/>
                          </a:rPr>
                          <m:t>21</m:t>
                        </m:r>
                      </m:den>
                    </m:f>
                  </m:oMath>
                </a14:m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	c)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rPr>
                      <m:t>−</m:t>
                    </m:r>
                    <m:f>
                      <m:f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imes New Roman" panose="02020603050405020304" pitchFamily="18" charset="0"/>
                          </a:rPr>
                          <m:t>49</m:t>
                        </m:r>
                      </m:num>
                      <m:den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imes New Roman" panose="02020603050405020304" pitchFamily="18" charset="0"/>
                          </a:rPr>
                          <m:t>14</m:t>
                        </m:r>
                      </m:den>
                    </m:f>
                  </m:oMath>
                </a14:m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	d)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imes New Roman" panose="02020603050405020304" pitchFamily="18" charset="0"/>
                          </a:rPr>
                          <m:t>64</m:t>
                        </m:r>
                      </m:num>
                      <m:den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imes New Roman" panose="020206030504050203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US" sz="1600" dirty="0"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F917F13-1E61-4D40-AAE8-54EE894B49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99138"/>
                <a:ext cx="10515600" cy="4607170"/>
              </a:xfrm>
              <a:blipFill>
                <a:blip r:embed="rId2"/>
                <a:stretch>
                  <a:fillRect l="-348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B05889D1-6BDD-4BA8-9AE9-0567E4598F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5925" y="226568"/>
            <a:ext cx="1288256" cy="1296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0377893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F917F13-1E61-4D40-AAE8-54EE894B49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934308"/>
                <a:ext cx="10515600" cy="4572000"/>
              </a:xfrm>
            </p:spPr>
            <p:txBody>
              <a:bodyPr>
                <a:normAutofit lnSpcReduction="10000"/>
              </a:bodyPr>
              <a:lstStyle/>
              <a:p>
                <a:pPr marL="528638" indent="-528638">
                  <a:buNone/>
                </a:pP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7. </a:t>
                </a:r>
                <a:r>
                  <a:rPr lang="en-US" sz="1600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Hitunglah</a:t>
                </a: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:</a:t>
                </a:r>
              </a:p>
              <a:p>
                <a:pPr marL="544513" indent="0">
                  <a:buNone/>
                </a:pP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a)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imes New Roman" panose="020206030504050203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imes New Roman" panose="02020603050405020304" pitchFamily="18" charset="0"/>
                          </a:rPr>
                          <m:t>7</m:t>
                        </m:r>
                      </m:den>
                    </m:f>
                    <m:r>
                      <a:rPr lang="en-US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f>
                      <m:fPr>
                        <m:ctrlPr>
                          <a:rPr lang="en-US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	b)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imes New Roman" panose="02020603050405020304" pitchFamily="18" charset="0"/>
                          </a:rPr>
                          <m:t>11</m:t>
                        </m:r>
                      </m:num>
                      <m:den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imes New Roman" panose="02020603050405020304" pitchFamily="18" charset="0"/>
                          </a:rPr>
                          <m:t>30</m:t>
                        </m:r>
                      </m:den>
                    </m:f>
                    <m:r>
                      <a:rPr lang="en-US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÷</m:t>
                    </m:r>
                    <m:f>
                      <m:fPr>
                        <m:ctrlPr>
                          <a:rPr lang="en-US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num>
                      <m:den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	c)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imes New Roman" panose="020206030504050203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imes New Roman" panose="02020603050405020304" pitchFamily="18" charset="0"/>
                          </a:rPr>
                          <m:t>7</m:t>
                        </m:r>
                      </m:den>
                    </m:f>
                    <m:r>
                      <a:rPr lang="en-US" sz="1600" b="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rPr>
                      <m:t>+</m:t>
                    </m:r>
                    <m:f>
                      <m:f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imes New Roman" panose="02020603050405020304" pitchFamily="18" charset="0"/>
                          </a:rPr>
                          <m:t>4</m:t>
                        </m:r>
                      </m:num>
                      <m:den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imes New Roman" panose="020206030504050203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	d)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imes New Roman" panose="02020603050405020304" pitchFamily="18" charset="0"/>
                          </a:rPr>
                          <m:t>5</m:t>
                        </m:r>
                      </m:num>
                      <m:den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imes New Roman" panose="02020603050405020304" pitchFamily="18" charset="0"/>
                          </a:rPr>
                          <m:t>16</m:t>
                        </m:r>
                      </m:den>
                    </m:f>
                    <m:r>
                      <a:rPr lang="en-US" sz="1600" b="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rPr>
                      <m:t>−</m:t>
                    </m:r>
                    <m:f>
                      <m:f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imes New Roman" panose="02020603050405020304" pitchFamily="18" charset="0"/>
                          </a:rPr>
                          <m:t>4</m:t>
                        </m:r>
                      </m:num>
                      <m:den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imes New Roman" panose="020206030504050203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en-US" sz="1600" dirty="0"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8. </a:t>
                </a:r>
                <a:r>
                  <a:rPr lang="en-US" sz="1600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Tuliskan</a:t>
                </a: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sebagai</a:t>
                </a: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perbandingan</a:t>
                </a: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:</a:t>
                </a:r>
              </a:p>
              <a:p>
                <a:pPr marL="544513" indent="0">
                  <a:buNone/>
                </a:pPr>
                <a:r>
                  <a:rPr lang="en-US" sz="1600" dirty="0">
                    <a:ea typeface="Tahoma" panose="020B0604030504040204" pitchFamily="34" charset="0"/>
                    <a:cs typeface="Times New Roman" panose="02020603050405020304" pitchFamily="18" charset="0"/>
                  </a:rPr>
                  <a:t>a)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dari</a:t>
                </a: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A,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imes New Roman" panose="020206030504050203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dari</a:t>
                </a: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B,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imes New Roman" panose="020206030504050203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imes New Roman" panose="020206030504050203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dari</a:t>
                </a: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C</a:t>
                </a:r>
              </a:p>
              <a:p>
                <a:pPr marL="544513" indent="0">
                  <a:buNone/>
                </a:pP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b)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imes New Roman" panose="020206030504050203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dari</a:t>
                </a: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P,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imes New Roman" panose="020206030504050203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dari</a:t>
                </a: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Q,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imes New Roman" panose="020206030504050203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dari</a:t>
                </a: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R</a:t>
                </a:r>
              </a:p>
              <a:p>
                <a:pPr marL="528638" indent="-528638">
                  <a:buNone/>
                </a:pP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9.  </a:t>
                </a:r>
                <a:r>
                  <a:rPr lang="en-US" sz="1600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Lengkapilah</a:t>
                </a: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masing-masing </a:t>
                </a:r>
                <a:r>
                  <a:rPr lang="en-US" sz="1600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berikut</a:t>
                </a: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:</a:t>
                </a:r>
              </a:p>
              <a:p>
                <a:pPr marL="1073150" indent="-528638">
                  <a:buNone/>
                </a:pP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a)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imes New Roman" panose="02020603050405020304" pitchFamily="18" charset="0"/>
                          </a:rPr>
                          <m:t>4</m:t>
                        </m:r>
                      </m:num>
                      <m:den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imes New Roman" panose="02020603050405020304" pitchFamily="18" charset="0"/>
                          </a:rPr>
                          <m:t>5</m:t>
                        </m:r>
                      </m:den>
                    </m:f>
                    <m:r>
                      <a:rPr lang="en-US" sz="1600" b="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rPr>
                      <m:t>=       %</m:t>
                    </m:r>
                  </m:oMath>
                </a14:m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		b)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rPr>
                      <m:t>48%</m:t>
                    </m:r>
                  </m:oMath>
                </a14:m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dari</a:t>
                </a: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rPr>
                      <m:t>50=</m:t>
                    </m:r>
                  </m:oMath>
                </a14:m>
                <a:endParaRPr lang="en-US" sz="1600" dirty="0"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endParaRPr>
              </a:p>
              <a:p>
                <a:pPr marL="1073150" indent="-528638">
                  <a:buNone/>
                </a:pP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c)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imes New Roman" panose="02020603050405020304" pitchFamily="18" charset="0"/>
                          </a:rPr>
                          <m:t>9</m:t>
                        </m:r>
                      </m:num>
                      <m:den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imes New Roman" panose="02020603050405020304" pitchFamily="18" charset="0"/>
                          </a:rPr>
                          <m:t>14</m:t>
                        </m:r>
                      </m:den>
                    </m:f>
                    <m:r>
                      <a:rPr lang="en-US" sz="1600" b="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rPr>
                      <m:t>=       %</m:t>
                    </m:r>
                  </m:oMath>
                </a14:m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		d)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rPr>
                      <m:t>5%</m:t>
                    </m:r>
                  </m:oMath>
                </a14:m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dari</a:t>
                </a: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rPr>
                      <m:t>5=</m:t>
                    </m:r>
                  </m:oMath>
                </a14:m>
                <a:endParaRPr lang="en-US" sz="1600" dirty="0"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endParaRPr>
              </a:p>
              <a:p>
                <a:pPr marL="528638" indent="-528638">
                  <a:buNone/>
                </a:pP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10. </a:t>
                </a:r>
                <a:r>
                  <a:rPr lang="en-US" sz="1600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Bulatkan</a:t>
                </a: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setiap</a:t>
                </a: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bilangan</a:t>
                </a: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decimal </a:t>
                </a:r>
                <a:r>
                  <a:rPr lang="en-US" sz="1600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berikut</a:t>
                </a: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, </a:t>
                </a:r>
                <a:r>
                  <a:rPr lang="en-US" sz="1600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angka</a:t>
                </a: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pertama</a:t>
                </a: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sampai</a:t>
                </a: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3 </a:t>
                </a:r>
                <a:r>
                  <a:rPr lang="en-US" sz="1600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angka</a:t>
                </a: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penting</a:t>
                </a: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kemudian</a:t>
                </a: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2 </a:t>
                </a:r>
                <a:r>
                  <a:rPr lang="en-US" sz="1600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tempat</a:t>
                </a: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desimal</a:t>
                </a:r>
                <a:endParaRPr lang="en-US" sz="1600" dirty="0"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endParaRPr>
              </a:p>
              <a:p>
                <a:pPr marL="544513" indent="0">
                  <a:buNone/>
                </a:pP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a) 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rPr>
                      <m:t>21,355</m:t>
                    </m:r>
                  </m:oMath>
                </a14:m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		b) 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rPr>
                      <m:t>0,02456</m:t>
                    </m:r>
                  </m:oMath>
                </a14:m>
                <a:endParaRPr lang="en-US" sz="1600" b="0" dirty="0"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endParaRPr>
              </a:p>
              <a:p>
                <a:pPr marL="544513" indent="0">
                  <a:buNone/>
                </a:pP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c) 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rPr>
                      <m:t>0,3105</m:t>
                    </m:r>
                  </m:oMath>
                </a14:m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		d) 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rPr>
                      <m:t>5134,555</m:t>
                    </m:r>
                  </m:oMath>
                </a14:m>
                <a:endParaRPr lang="en-US" sz="1600" dirty="0"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F917F13-1E61-4D40-AAE8-54EE894B49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934308"/>
                <a:ext cx="10515600" cy="4572000"/>
              </a:xfrm>
              <a:blipFill>
                <a:blip r:embed="rId2"/>
                <a:stretch>
                  <a:fillRect l="-3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E88E7FF9-97A3-4D54-B87A-9DCB65529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5925" y="226568"/>
            <a:ext cx="1288256" cy="1296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FA7E6CAE-DB49-458A-86A8-002A8684A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5796"/>
            <a:ext cx="10515600" cy="846626"/>
          </a:xfrm>
        </p:spPr>
        <p:txBody>
          <a:bodyPr>
            <a:normAutofit/>
          </a:bodyPr>
          <a:lstStyle/>
          <a:p>
            <a:r>
              <a:rPr lang="en-US" sz="4000" dirty="0"/>
              <a:t>Pretests </a:t>
            </a:r>
            <a:endParaRPr lang="en-ID" sz="4000" dirty="0"/>
          </a:p>
        </p:txBody>
      </p:sp>
    </p:spTree>
    <p:extLst>
      <p:ext uri="{BB962C8B-B14F-4D97-AF65-F5344CB8AC3E}">
        <p14:creationId xmlns:p14="http://schemas.microsoft.com/office/powerpoint/2010/main" val="189376399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F917F13-1E61-4D40-AAE8-54EE894B49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934308"/>
                <a:ext cx="10515600" cy="4572000"/>
              </a:xfrm>
            </p:spPr>
            <p:txBody>
              <a:bodyPr>
                <a:normAutofit/>
              </a:bodyPr>
              <a:lstStyle/>
              <a:p>
                <a:pPr marL="528638" indent="-528638">
                  <a:buNone/>
                </a:pP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11. </a:t>
                </a:r>
                <a:r>
                  <a:rPr lang="en-US" sz="1600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Ubahlah</a:t>
                </a: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setiap</a:t>
                </a: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berikut</a:t>
                </a: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ini</a:t>
                </a: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menjadi</a:t>
                </a: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bentuk</a:t>
                </a: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desimal</a:t>
                </a: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ke</a:t>
                </a: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3 </a:t>
                </a:r>
                <a:r>
                  <a:rPr lang="en-US" sz="1600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tempat</a:t>
                </a: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desimal</a:t>
                </a:r>
                <a:endParaRPr lang="en-US" sz="1600" dirty="0"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endParaRPr>
              </a:p>
              <a:p>
                <a:pPr marL="544513" indent="0">
                  <a:buNone/>
                </a:pP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a)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imes New Roman" panose="02020603050405020304" pitchFamily="18" charset="0"/>
                          </a:rPr>
                          <m:t>4</m:t>
                        </m:r>
                      </m:num>
                      <m:den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imes New Roman" panose="020206030504050203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		b) </a:t>
                </a:r>
                <a14:m>
                  <m:oMath xmlns:m="http://schemas.openxmlformats.org/officeDocument/2006/math">
                    <m:r>
                      <a:rPr lang="en-US" sz="1600" b="0" i="0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rPr>
                      <m:t>−</m:t>
                    </m:r>
                    <m:f>
                      <m:fPr>
                        <m:ctrlPr>
                          <a:rPr lang="en-US" sz="160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imes New Roman" panose="02020603050405020304" pitchFamily="18" charset="0"/>
                          </a:rPr>
                          <m:t>7</m:t>
                        </m:r>
                      </m:num>
                      <m:den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imes New Roman" panose="02020603050405020304" pitchFamily="18" charset="0"/>
                          </a:rPr>
                          <m:t>13</m:t>
                        </m:r>
                      </m:den>
                    </m:f>
                  </m:oMath>
                </a14:m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	 c)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imes New Roman" panose="02020603050405020304" pitchFamily="18" charset="0"/>
                          </a:rPr>
                          <m:t>9</m:t>
                        </m:r>
                      </m:num>
                      <m:den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imes New Roman" panose="020206030504050203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	      d)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rPr>
                      <m:t>−</m:t>
                    </m:r>
                    <m:f>
                      <m:f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imes New Roman" panose="02020603050405020304" pitchFamily="18" charset="0"/>
                          </a:rPr>
                          <m:t>28</m:t>
                        </m:r>
                      </m:num>
                      <m:den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imes New Roman" panose="02020603050405020304" pitchFamily="18" charset="0"/>
                          </a:rPr>
                          <m:t>13</m:t>
                        </m:r>
                      </m:den>
                    </m:f>
                  </m:oMath>
                </a14:m>
                <a:endParaRPr lang="en-US" sz="1600" dirty="0"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12. </a:t>
                </a:r>
                <a:r>
                  <a:rPr lang="en-US" sz="1600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Ubahlah</a:t>
                </a: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setiap</a:t>
                </a: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berikut</a:t>
                </a: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ini</a:t>
                </a: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menjadi</a:t>
                </a: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bentuk</a:t>
                </a: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pecahan</a:t>
                </a: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paling </a:t>
                </a:r>
                <a:r>
                  <a:rPr lang="en-US" sz="1600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sederhana</a:t>
                </a: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544513" indent="0">
                  <a:buNone/>
                </a:pPr>
                <a:r>
                  <a:rPr lang="en-US" sz="1600" dirty="0">
                    <a:ea typeface="Tahoma" panose="020B0604030504040204" pitchFamily="34" charset="0"/>
                    <a:cs typeface="Times New Roman" panose="02020603050405020304" pitchFamily="18" charset="0"/>
                  </a:rPr>
                  <a:t>a) </a:t>
                </a:r>
                <a14:m>
                  <m:oMath xmlns:m="http://schemas.openxmlformats.org/officeDocument/2006/math">
                    <m:r>
                      <a:rPr lang="en-US" sz="160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rPr>
                      <m:t>,8</m:t>
                    </m:r>
                  </m:oMath>
                </a14:m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    b) </a:t>
                </a:r>
                <a14:m>
                  <m:oMath xmlns:m="http://schemas.openxmlformats.org/officeDocument/2006/math">
                    <m:r>
                      <a:rPr lang="en-US" sz="160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rPr>
                      <m:t>,8</m:t>
                    </m:r>
                  </m:oMath>
                </a14:m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	    c)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rPr>
                      <m:t>3,32</m:t>
                    </m:r>
                  </m:oMath>
                </a14:m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      d)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rPr>
                      <m:t>−5,5</m:t>
                    </m:r>
                  </m:oMath>
                </a14:m>
                <a:endParaRPr lang="en-US" sz="1600" dirty="0"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endParaRPr>
              </a:p>
              <a:p>
                <a:pPr marL="528638" indent="-528638">
                  <a:buNone/>
                </a:pP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13.  </a:t>
                </a:r>
                <a:r>
                  <a:rPr lang="en-US" sz="1600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Tulislah</a:t>
                </a: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setiap</a:t>
                </a: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berikut</a:t>
                </a: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ini</a:t>
                </a: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dalam</a:t>
                </a: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bentuk</a:t>
                </a: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singkat</a:t>
                </a: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1073150" indent="-528638">
                  <a:buNone/>
                </a:pPr>
                <a:r>
                  <a:rPr lang="en-US" sz="1600" dirty="0">
                    <a:ea typeface="Tahoma" panose="020B0604030504040204" pitchFamily="34" charset="0"/>
                    <a:cs typeface="Times New Roman" panose="02020603050405020304" pitchFamily="18" charset="0"/>
                  </a:rPr>
                  <a:t>a)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rPr>
                      <m:t>1,010101…</m:t>
                    </m:r>
                  </m:oMath>
                </a14:m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  			  b)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rPr>
                      <m:t>9,2456456456…</m:t>
                    </m:r>
                  </m:oMath>
                </a14:m>
                <a:endParaRPr lang="en-US" sz="1600" dirty="0"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endParaRPr>
              </a:p>
              <a:p>
                <a:pPr marL="528638" indent="-528638">
                  <a:buNone/>
                </a:pP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14. </a:t>
                </a:r>
                <a:r>
                  <a:rPr lang="en-US" sz="1600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Tulislah</a:t>
                </a: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setiap</a:t>
                </a: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berikut</a:t>
                </a: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ini</a:t>
                </a: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sebagai</a:t>
                </a: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angka</a:t>
                </a: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yang </a:t>
                </a:r>
                <a:r>
                  <a:rPr lang="en-US" sz="1600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dipangkatkan</a:t>
                </a:r>
                <a:endParaRPr lang="en-US" sz="1600" dirty="0"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endParaRPr>
              </a:p>
              <a:p>
                <a:pPr marL="544513" indent="0">
                  <a:buNone/>
                </a:pP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a)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imes New Roman" panose="02020603050405020304" pitchFamily="18" charset="0"/>
                          </a:rPr>
                          <m:t>3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imes New Roman" panose="02020603050405020304" pitchFamily="18" charset="0"/>
                          </a:rPr>
                          <m:t>6</m:t>
                        </m:r>
                      </m:sup>
                    </m:sSup>
                    <m:r>
                      <a:rPr lang="en-US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sSup>
                      <m:sSupPr>
                        <m:ctrlPr>
                          <a:rPr lang="en-US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		b)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imes New Roman" panose="02020603050405020304" pitchFamily="18" charset="0"/>
                          </a:rPr>
                          <m:t>4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imes New Roman" panose="02020603050405020304" pitchFamily="18" charset="0"/>
                          </a:rPr>
                          <m:t>3</m:t>
                        </m:r>
                      </m:sup>
                    </m:sSup>
                    <m:r>
                      <a:rPr lang="en-US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÷</m:t>
                    </m:r>
                    <m:sSup>
                      <m:sSupPr>
                        <m:ctrlPr>
                          <a:rPr lang="en-US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	c)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  <a:ea typeface="Tahoma" panose="020B060403050404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Tahoma" panose="020B0604030504040204" pitchFamily="34" charset="0"/>
                                    <a:cs typeface="Times New Roman" panose="02020603050405020304" pitchFamily="18" charset="0"/>
                                  </a:rPr>
                                  <m:t>9</m:t>
                                </m:r>
                              </m:e>
                              <m:sup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Tahoma" panose="020B0604030504040204" pitchFamily="34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imes New Roman" panose="020206030504050203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		d)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imes New Roman" panose="020206030504050203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imes New Roman" panose="02020603050405020304" pitchFamily="18" charset="0"/>
                              </a:rPr>
                              <m:t>7</m:t>
                            </m:r>
                          </m:e>
                          <m:sup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p>
                        </m:sSup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imes New Roman" panose="02020603050405020304" pitchFamily="18" charset="0"/>
                          </a:rPr>
                          <m:t>−8</m:t>
                        </m:r>
                      </m:sup>
                    </m:sSup>
                  </m:oMath>
                </a14:m>
                <a:endParaRPr lang="en-US" sz="1600" dirty="0"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15.  </a:t>
                </a:r>
                <a:r>
                  <a:rPr lang="en-US" sz="1600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Tentukan</a:t>
                </a: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nilai</a:t>
                </a: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dari</a:t>
                </a: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setiap</a:t>
                </a: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berikut</a:t>
                </a: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ini</a:t>
                </a: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hingga</a:t>
                </a: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3 </a:t>
                </a:r>
                <a:r>
                  <a:rPr lang="en-US" sz="1600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dp</a:t>
                </a: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:</a:t>
                </a:r>
              </a:p>
              <a:p>
                <a:pPr marL="544513" indent="0">
                  <a:buNone/>
                </a:pPr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a)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imes New Roman" panose="02020603050405020304" pitchFamily="18" charset="0"/>
                          </a:rPr>
                          <m:t>15</m:t>
                        </m:r>
                      </m:e>
                      <m:sup>
                        <m:f>
                          <m:fPr>
                            <m:ctrlPr>
                              <a:rPr lang="en-US" sz="160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	b)  </a:t>
                </a:r>
                <a14:m>
                  <m:oMath xmlns:m="http://schemas.openxmlformats.org/officeDocument/2006/math">
                    <m:rad>
                      <m:radPr>
                        <m:ctrlPr>
                          <a:rPr lang="en-US" sz="160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imes New Roman" panose="02020603050405020304" pitchFamily="18" charset="0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n-US" sz="16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imes New Roman" panose="02020603050405020304" pitchFamily="18" charset="0"/>
                          </a:rPr>
                          <m:t>5</m:t>
                        </m:r>
                      </m:deg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imes New Roman" panose="020206030504050203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	c)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imes New Roman" panose="02020603050405020304" pitchFamily="18" charset="0"/>
                          </a:rPr>
                          <m:t>(−27)</m:t>
                        </m:r>
                      </m:e>
                      <m:sup>
                        <m:f>
                          <m:fPr>
                            <m:ctrlPr>
                              <a:rPr lang="en-US" sz="160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sz="16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		d)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imes New Roman" panose="02020603050405020304" pitchFamily="18" charset="0"/>
                          </a:rPr>
                          <m:t>(−9)</m:t>
                        </m:r>
                      </m:e>
                      <m:sup>
                        <m:f>
                          <m:fPr>
                            <m:ctrlPr>
                              <a:rPr lang="en-US" sz="160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endParaRPr lang="en-US" sz="1600" dirty="0"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F917F13-1E61-4D40-AAE8-54EE894B49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934308"/>
                <a:ext cx="10515600" cy="4572000"/>
              </a:xfrm>
              <a:blipFill>
                <a:blip r:embed="rId2"/>
                <a:stretch>
                  <a:fillRect l="-348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E88E7FF9-97A3-4D54-B87A-9DCB65529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5925" y="226568"/>
            <a:ext cx="1288256" cy="1296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FA7E6CAE-DB49-458A-86A8-002A8684A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5796"/>
            <a:ext cx="10515600" cy="846626"/>
          </a:xfrm>
        </p:spPr>
        <p:txBody>
          <a:bodyPr>
            <a:normAutofit/>
          </a:bodyPr>
          <a:lstStyle/>
          <a:p>
            <a:r>
              <a:rPr lang="en-US" sz="4000" dirty="0"/>
              <a:t>Pretests </a:t>
            </a:r>
            <a:endParaRPr lang="en-ID" sz="4000" dirty="0"/>
          </a:p>
        </p:txBody>
      </p:sp>
    </p:spTree>
    <p:extLst>
      <p:ext uri="{BB962C8B-B14F-4D97-AF65-F5344CB8AC3E}">
        <p14:creationId xmlns:p14="http://schemas.microsoft.com/office/powerpoint/2010/main" val="56278992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8B116-AFA5-4F11-B1F0-DE9A8B386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2868"/>
            <a:ext cx="10515600" cy="760290"/>
          </a:xfrm>
        </p:spPr>
        <p:txBody>
          <a:bodyPr>
            <a:normAutofit/>
          </a:bodyPr>
          <a:lstStyle/>
          <a:p>
            <a:r>
              <a:rPr lang="en-US" sz="3600" b="1" dirty="0" err="1"/>
              <a:t>Jenis-Jenis</a:t>
            </a:r>
            <a:r>
              <a:rPr lang="en-US" sz="3600" b="1" dirty="0"/>
              <a:t> </a:t>
            </a:r>
            <a:r>
              <a:rPr lang="en-US" sz="3600" b="1" dirty="0" err="1"/>
              <a:t>Bilangan</a:t>
            </a:r>
            <a:endParaRPr lang="en-ID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4484E0-763C-42AA-9460-2A3DA0FBF09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63970"/>
                <a:ext cx="10515600" cy="4767462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1600" b="1" dirty="0"/>
                  <a:t>1. </a:t>
                </a:r>
                <a:r>
                  <a:rPr lang="en-US" sz="1600" b="1" dirty="0" err="1"/>
                  <a:t>Bilangan</a:t>
                </a:r>
                <a:r>
                  <a:rPr lang="en-US" sz="1600" b="1" dirty="0"/>
                  <a:t> Asli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1600" dirty="0" err="1"/>
                  <a:t>Bilangan</a:t>
                </a:r>
                <a:r>
                  <a:rPr lang="en-US" sz="1600" dirty="0"/>
                  <a:t> </a:t>
                </a:r>
                <a:r>
                  <a:rPr lang="en-US" sz="1600" dirty="0" err="1"/>
                  <a:t>pertama</a:t>
                </a:r>
                <a:r>
                  <a:rPr lang="en-US" sz="1600" dirty="0"/>
                  <a:t> yang </a:t>
                </a:r>
                <a:r>
                  <a:rPr lang="en-US" sz="1600" dirty="0" err="1"/>
                  <a:t>pernah</a:t>
                </a:r>
                <a:r>
                  <a:rPr lang="en-US" sz="1600" dirty="0"/>
                  <a:t> </a:t>
                </a:r>
                <a:r>
                  <a:rPr lang="en-US" sz="1600" dirty="0" err="1"/>
                  <a:t>kita</a:t>
                </a:r>
                <a:r>
                  <a:rPr lang="en-US" sz="1600" dirty="0"/>
                  <a:t> </a:t>
                </a:r>
                <a:r>
                  <a:rPr lang="en-US" sz="1600" dirty="0" err="1"/>
                  <a:t>temui</a:t>
                </a:r>
                <a:r>
                  <a:rPr lang="en-US" sz="1600" dirty="0"/>
                  <a:t> </a:t>
                </a:r>
                <a:r>
                  <a:rPr lang="en-US" sz="1600" dirty="0" err="1"/>
                  <a:t>adalah</a:t>
                </a:r>
                <a:r>
                  <a:rPr lang="en-US" sz="1600" dirty="0"/>
                  <a:t> </a:t>
                </a:r>
                <a:r>
                  <a:rPr lang="en-US" sz="1600" dirty="0" err="1"/>
                  <a:t>bilangan</a:t>
                </a:r>
                <a:r>
                  <a:rPr lang="en-US" sz="1600" dirty="0"/>
                  <a:t> </a:t>
                </a:r>
                <a:r>
                  <a:rPr lang="en-US" sz="1600" dirty="0" err="1"/>
                  <a:t>bulat</a:t>
                </a:r>
                <a:r>
                  <a:rPr lang="en-US" sz="1600" dirty="0"/>
                  <a:t>. 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1600" b="1" dirty="0"/>
                  <a:t>Angka dan Nilai </a:t>
                </a:r>
                <a:r>
                  <a:rPr lang="en-US" sz="1600" b="1" dirty="0" err="1"/>
                  <a:t>Tempat</a:t>
                </a:r>
                <a:endParaRPr lang="en-US" sz="1600" b="1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1600" dirty="0" err="1"/>
                  <a:t>Bilangan</a:t>
                </a:r>
                <a:r>
                  <a:rPr lang="en-US" sz="1600" dirty="0"/>
                  <a:t> </a:t>
                </a:r>
                <a:r>
                  <a:rPr lang="en-US" sz="1600" dirty="0" err="1"/>
                  <a:t>asli</a:t>
                </a:r>
                <a:r>
                  <a:rPr lang="en-US" sz="1600" dirty="0"/>
                  <a:t> </a:t>
                </a:r>
                <a:r>
                  <a:rPr lang="en-US" sz="1600" dirty="0" err="1"/>
                  <a:t>ditulis</a:t>
                </a:r>
                <a:r>
                  <a:rPr lang="en-US" sz="1600" dirty="0"/>
                  <a:t> </a:t>
                </a:r>
                <a:r>
                  <a:rPr lang="en-US" sz="1600" dirty="0" err="1"/>
                  <a:t>menggunakan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US" sz="1600" dirty="0"/>
                  <a:t> </a:t>
                </a:r>
                <a:r>
                  <a:rPr lang="en-US" sz="1600" dirty="0" err="1"/>
                  <a:t>angka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0, 1, …, 9</m:t>
                    </m:r>
                  </m:oMath>
                </a14:m>
                <a:r>
                  <a:rPr lang="en-US" sz="1600" dirty="0"/>
                  <a:t> </a:t>
                </a:r>
                <a:r>
                  <a:rPr lang="en-US" sz="1600" dirty="0" err="1"/>
                  <a:t>dimana</a:t>
                </a:r>
                <a:r>
                  <a:rPr lang="en-US" sz="1600" dirty="0"/>
                  <a:t> </a:t>
                </a:r>
                <a:r>
                  <a:rPr lang="en-US" sz="1600" dirty="0" err="1"/>
                  <a:t>posisi</a:t>
                </a:r>
                <a:r>
                  <a:rPr lang="en-US" sz="1600" dirty="0"/>
                  <a:t> </a:t>
                </a:r>
                <a:r>
                  <a:rPr lang="en-US" sz="1600" dirty="0" err="1"/>
                  <a:t>angka</a:t>
                </a:r>
                <a:r>
                  <a:rPr lang="en-US" sz="1600" dirty="0"/>
                  <a:t> </a:t>
                </a:r>
                <a:r>
                  <a:rPr lang="en-US" sz="1600" dirty="0" err="1"/>
                  <a:t>menentukan</a:t>
                </a:r>
                <a:r>
                  <a:rPr lang="en-US" sz="1600" dirty="0"/>
                  <a:t> </a:t>
                </a:r>
                <a:r>
                  <a:rPr lang="en-US" sz="1600" dirty="0" err="1"/>
                  <a:t>nilai</a:t>
                </a:r>
                <a:r>
                  <a:rPr lang="en-US" sz="1600" dirty="0"/>
                  <a:t> yang </a:t>
                </a:r>
                <a:r>
                  <a:rPr lang="en-US" sz="1600" dirty="0" err="1"/>
                  <a:t>diwakilinya</a:t>
                </a:r>
                <a:r>
                  <a:rPr lang="en-US" sz="1600" dirty="0"/>
                  <a:t>. </a:t>
                </a:r>
                <a:r>
                  <a:rPr lang="en-US" sz="1600" dirty="0" err="1"/>
                  <a:t>Contoh</a:t>
                </a:r>
                <a:r>
                  <a:rPr lang="en-US" sz="1600" dirty="0"/>
                  <a:t> 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246</m:t>
                    </m:r>
                  </m:oMath>
                </a14:m>
                <a:r>
                  <a:rPr lang="en-US" sz="1600" dirty="0"/>
                  <a:t> </a:t>
                </a:r>
                <a:r>
                  <a:rPr lang="en-US" sz="1600" dirty="0" err="1"/>
                  <a:t>adalah</a:t>
                </a:r>
                <a:r>
                  <a:rPr lang="en-US" sz="1600" dirty="0"/>
                  <a:t> </a:t>
                </a:r>
                <a:r>
                  <a:rPr lang="en-US" sz="1600" dirty="0" err="1"/>
                  <a:t>singkatan</a:t>
                </a:r>
                <a:r>
                  <a:rPr lang="en-US" sz="1600" dirty="0"/>
                  <a:t> </a:t>
                </a:r>
                <a:r>
                  <a:rPr lang="en-US" sz="1600" dirty="0" err="1"/>
                  <a:t>dari</a:t>
                </a:r>
                <a:r>
                  <a:rPr lang="en-US" sz="1600" dirty="0"/>
                  <a:t> 2 </a:t>
                </a:r>
                <a:r>
                  <a:rPr lang="en-US" sz="1600" dirty="0" err="1"/>
                  <a:t>ratusan</a:t>
                </a:r>
                <a:r>
                  <a:rPr lang="en-US" sz="1600" dirty="0"/>
                  <a:t>, 4 </a:t>
                </a:r>
                <a:r>
                  <a:rPr lang="en-US" sz="1600" dirty="0" err="1"/>
                  <a:t>puluhan</a:t>
                </a:r>
                <a:r>
                  <a:rPr lang="en-US" sz="1600" dirty="0"/>
                  <a:t>, dan 6 </a:t>
                </a:r>
                <a:r>
                  <a:rPr lang="en-US" sz="1600" dirty="0" err="1"/>
                  <a:t>satuan</a:t>
                </a:r>
                <a:r>
                  <a:rPr lang="en-US" sz="1600" dirty="0"/>
                  <a:t>. </a:t>
                </a:r>
                <a:r>
                  <a:rPr lang="en-US" sz="1600" dirty="0" err="1"/>
                  <a:t>Yaitu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200+40+6</m:t>
                    </m:r>
                  </m:oMath>
                </a14:m>
                <a:endParaRPr lang="en-US" sz="1600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1600" dirty="0"/>
                  <a:t>Dimana </a:t>
                </a:r>
                <a:r>
                  <a:rPr lang="en-US" sz="1600" dirty="0" err="1"/>
                  <a:t>angka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2, 4</m:t>
                    </m:r>
                  </m:oMath>
                </a14:m>
                <a:r>
                  <a:rPr lang="en-US" sz="1600" dirty="0"/>
                  <a:t> dan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US" sz="1600" dirty="0"/>
                  <a:t> </a:t>
                </a:r>
                <a:r>
                  <a:rPr lang="en-US" sz="1600" dirty="0" err="1"/>
                  <a:t>disebut</a:t>
                </a:r>
                <a:r>
                  <a:rPr lang="en-US" sz="1600" dirty="0"/>
                  <a:t> </a:t>
                </a:r>
                <a:r>
                  <a:rPr lang="en-US" sz="1600" dirty="0" err="1"/>
                  <a:t>koefisien</a:t>
                </a:r>
                <a:r>
                  <a:rPr lang="en-US" sz="1600" dirty="0"/>
                  <a:t> </a:t>
                </a:r>
                <a:r>
                  <a:rPr lang="en-US" sz="1600" dirty="0" err="1"/>
                  <a:t>ratusan</a:t>
                </a:r>
                <a:r>
                  <a:rPr lang="en-US" sz="1600" dirty="0"/>
                  <a:t>, </a:t>
                </a:r>
                <a:r>
                  <a:rPr lang="en-US" sz="1600" dirty="0" err="1"/>
                  <a:t>puluhan</a:t>
                </a:r>
                <a:r>
                  <a:rPr lang="en-US" sz="1600" dirty="0"/>
                  <a:t> dan </a:t>
                </a:r>
                <a:r>
                  <a:rPr lang="en-US" sz="1600" dirty="0" err="1"/>
                  <a:t>satuan</a:t>
                </a:r>
                <a:r>
                  <a:rPr lang="en-US" sz="1600" dirty="0"/>
                  <a:t>.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ID" sz="1600" b="1" dirty="0" err="1"/>
                  <a:t>Titik</a:t>
                </a:r>
                <a:r>
                  <a:rPr lang="en-ID" sz="1600" b="1" dirty="0"/>
                  <a:t> Pada Garis dan Order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ID" sz="1600" dirty="0" err="1"/>
                  <a:t>Bilangan</a:t>
                </a:r>
                <a:r>
                  <a:rPr lang="en-ID" sz="1600" dirty="0"/>
                  <a:t> </a:t>
                </a:r>
                <a:r>
                  <a:rPr lang="en-ID" sz="1600" dirty="0" err="1"/>
                  <a:t>asli</a:t>
                </a:r>
                <a:r>
                  <a:rPr lang="en-ID" sz="1600" dirty="0"/>
                  <a:t> </a:t>
                </a:r>
                <a:r>
                  <a:rPr lang="en-ID" sz="1600" dirty="0" err="1"/>
                  <a:t>dapat</a:t>
                </a:r>
                <a:r>
                  <a:rPr lang="en-ID" sz="1600" dirty="0"/>
                  <a:t> </a:t>
                </a:r>
                <a:r>
                  <a:rPr lang="en-ID" sz="1600" dirty="0" err="1"/>
                  <a:t>direpresentasikan</a:t>
                </a:r>
                <a:r>
                  <a:rPr lang="en-ID" sz="1600" dirty="0"/>
                  <a:t> </a:t>
                </a:r>
                <a:r>
                  <a:rPr lang="en-ID" sz="1600" dirty="0" err="1"/>
                  <a:t>dengan</a:t>
                </a:r>
                <a:r>
                  <a:rPr lang="en-ID" sz="1600" dirty="0"/>
                  <a:t> </a:t>
                </a:r>
                <a:r>
                  <a:rPr lang="en-ID" sz="1600" dirty="0" err="1"/>
                  <a:t>titik-titik</a:t>
                </a:r>
                <a:r>
                  <a:rPr lang="en-ID" sz="1600" dirty="0"/>
                  <a:t> yang </a:t>
                </a:r>
                <a:r>
                  <a:rPr lang="en-ID" sz="1600" dirty="0" err="1"/>
                  <a:t>berjarak</a:t>
                </a:r>
                <a:r>
                  <a:rPr lang="en-ID" sz="1600" dirty="0"/>
                  <a:t> </a:t>
                </a:r>
                <a:r>
                  <a:rPr lang="en-ID" sz="1600" dirty="0" err="1"/>
                  <a:t>sama</a:t>
                </a:r>
                <a:r>
                  <a:rPr lang="en-ID" sz="1600" dirty="0"/>
                  <a:t> pada garis </a:t>
                </a:r>
                <a:r>
                  <a:rPr lang="en-ID" sz="1600" dirty="0" err="1"/>
                  <a:t>lurus</a:t>
                </a:r>
                <a:r>
                  <a:rPr lang="en-ID" sz="1600" dirty="0"/>
                  <a:t> </a:t>
                </a:r>
                <a:r>
                  <a:rPr lang="en-ID" sz="1600" dirty="0" err="1"/>
                  <a:t>dimana</a:t>
                </a:r>
                <a:r>
                  <a:rPr lang="en-ID" sz="1600" dirty="0"/>
                  <a:t> </a:t>
                </a:r>
                <a:r>
                  <a:rPr lang="en-ID" sz="1600" dirty="0" err="1"/>
                  <a:t>bilangan</a:t>
                </a:r>
                <a:r>
                  <a:rPr lang="en-ID" sz="1600" dirty="0"/>
                  <a:t> </a:t>
                </a:r>
                <a:r>
                  <a:rPr lang="en-ID" sz="1600" dirty="0" err="1"/>
                  <a:t>asli</a:t>
                </a:r>
                <a:r>
                  <a:rPr lang="en-ID" sz="1600" dirty="0"/>
                  <a:t> </a:t>
                </a:r>
                <a:r>
                  <a:rPr lang="en-ID" sz="1600" dirty="0" err="1"/>
                  <a:t>pertamanya</a:t>
                </a:r>
                <a:r>
                  <a:rPr lang="en-ID" sz="1600" dirty="0"/>
                  <a:t> </a:t>
                </a:r>
                <a:r>
                  <a:rPr lang="en-ID" sz="1600" dirty="0" err="1"/>
                  <a:t>adalah</a:t>
                </a:r>
                <a:r>
                  <a:rPr lang="en-ID" sz="1600" dirty="0"/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ID" sz="1600" dirty="0"/>
                  <a:t>.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ID" sz="1600" dirty="0"/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ID" sz="1600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ID" sz="1600" dirty="0"/>
                  <a:t>Ketika </a:t>
                </a:r>
                <a:r>
                  <a:rPr lang="en-ID" sz="1600" dirty="0" err="1"/>
                  <a:t>bilangan</a:t>
                </a:r>
                <a:r>
                  <a:rPr lang="en-ID" sz="1600" dirty="0"/>
                  <a:t> </a:t>
                </a:r>
                <a:r>
                  <a:rPr lang="en-ID" sz="1600" dirty="0" err="1"/>
                  <a:t>asli</a:t>
                </a:r>
                <a:r>
                  <a:rPr lang="en-ID" sz="1600" dirty="0"/>
                  <a:t> </a:t>
                </a:r>
                <a:r>
                  <a:rPr lang="en-ID" sz="1600" dirty="0" err="1"/>
                  <a:t>bergerak</a:t>
                </a:r>
                <a:r>
                  <a:rPr lang="en-ID" sz="1600" dirty="0"/>
                  <a:t> </a:t>
                </a:r>
                <a:r>
                  <a:rPr lang="en-ID" sz="1600" dirty="0" err="1"/>
                  <a:t>dari</a:t>
                </a:r>
                <a:r>
                  <a:rPr lang="en-ID" sz="1600" dirty="0"/>
                  <a:t> </a:t>
                </a:r>
                <a:r>
                  <a:rPr lang="en-ID" sz="1600" dirty="0" err="1"/>
                  <a:t>kiri</a:t>
                </a:r>
                <a:r>
                  <a:rPr lang="en-ID" sz="1600" dirty="0"/>
                  <a:t> </a:t>
                </a:r>
                <a:r>
                  <a:rPr lang="en-ID" sz="1600" dirty="0" err="1"/>
                  <a:t>ke</a:t>
                </a:r>
                <a:r>
                  <a:rPr lang="en-ID" sz="1600" dirty="0"/>
                  <a:t> </a:t>
                </a:r>
                <a:r>
                  <a:rPr lang="en-ID" sz="1600" dirty="0" err="1"/>
                  <a:t>kanan</a:t>
                </a:r>
                <a:r>
                  <a:rPr lang="en-ID" sz="1600" dirty="0"/>
                  <a:t>, </a:t>
                </a:r>
                <a:r>
                  <a:rPr lang="en-ID" sz="1600" dirty="0" err="1"/>
                  <a:t>jumlahnya</a:t>
                </a:r>
                <a:r>
                  <a:rPr lang="en-ID" sz="1600" dirty="0"/>
                  <a:t> </a:t>
                </a:r>
                <a:r>
                  <a:rPr lang="en-ID" sz="1600" dirty="0" err="1"/>
                  <a:t>meningkat</a:t>
                </a:r>
                <a:r>
                  <a:rPr lang="en-ID" sz="1600" dirty="0"/>
                  <a:t> </a:t>
                </a:r>
                <a:r>
                  <a:rPr lang="en-ID" sz="1600" dirty="0" err="1"/>
                  <a:t>seperti</a:t>
                </a:r>
                <a:r>
                  <a:rPr lang="en-ID" sz="1600" dirty="0"/>
                  <a:t> yang </a:t>
                </a:r>
                <a:r>
                  <a:rPr lang="en-ID" sz="1600" dirty="0" err="1"/>
                  <a:t>ditunjukkan</a:t>
                </a:r>
                <a:r>
                  <a:rPr lang="en-ID" sz="1600" dirty="0"/>
                  <a:t> oleh </a:t>
                </a:r>
                <a:r>
                  <a:rPr lang="en-ID" sz="1600" dirty="0" err="1"/>
                  <a:t>panah</a:t>
                </a:r>
                <a:r>
                  <a:rPr lang="en-ID" sz="1600" dirty="0"/>
                  <a:t> di </a:t>
                </a:r>
                <a:r>
                  <a:rPr lang="en-ID" sz="1600" dirty="0" err="1"/>
                  <a:t>akhir</a:t>
                </a:r>
                <a:r>
                  <a:rPr lang="en-ID" sz="1600" dirty="0"/>
                  <a:t> garis. Pada garis, </a:t>
                </a:r>
                <a:r>
                  <a:rPr lang="en-ID" sz="1600" dirty="0" err="1"/>
                  <a:t>angka</a:t>
                </a:r>
                <a:r>
                  <a:rPr lang="en-ID" sz="1600" dirty="0"/>
                  <a:t> </a:t>
                </a:r>
                <a:r>
                  <a:rPr lang="en-ID" sz="1600" dirty="0" err="1"/>
                  <a:t>disebelah</a:t>
                </a:r>
                <a:r>
                  <a:rPr lang="en-ID" sz="1600" dirty="0"/>
                  <a:t> </a:t>
                </a:r>
                <a:r>
                  <a:rPr lang="en-ID" sz="1600" dirty="0" err="1"/>
                  <a:t>kiri</a:t>
                </a:r>
                <a:r>
                  <a:rPr lang="en-ID" sz="1600" dirty="0"/>
                  <a:t> </a:t>
                </a:r>
                <a:r>
                  <a:rPr lang="en-ID" sz="1600" dirty="0" err="1"/>
                  <a:t>dari</a:t>
                </a:r>
                <a:r>
                  <a:rPr lang="en-ID" sz="1600" dirty="0"/>
                  <a:t> </a:t>
                </a:r>
                <a:r>
                  <a:rPr lang="en-ID" sz="1600" dirty="0" err="1"/>
                  <a:t>angka</a:t>
                </a:r>
                <a:r>
                  <a:rPr lang="en-ID" sz="1600" dirty="0"/>
                  <a:t> yang </a:t>
                </a:r>
                <a:r>
                  <a:rPr lang="en-ID" sz="1600" dirty="0" err="1"/>
                  <a:t>diberikan</a:t>
                </a:r>
                <a:r>
                  <a:rPr lang="en-ID" sz="1600" dirty="0"/>
                  <a:t> </a:t>
                </a:r>
                <a:r>
                  <a:rPr lang="en-ID" sz="1600" dirty="0" err="1"/>
                  <a:t>lebih</a:t>
                </a:r>
                <a:r>
                  <a:rPr lang="en-ID" sz="1600" dirty="0"/>
                  <a:t> </a:t>
                </a:r>
                <a:r>
                  <a:rPr lang="en-ID" sz="1600" dirty="0" err="1"/>
                  <a:t>kecil</a:t>
                </a:r>
                <a:r>
                  <a:rPr lang="en-ID" sz="1600" dirty="0"/>
                  <a:t> </a:t>
                </a:r>
                <a:r>
                  <a:rPr lang="en-ID" sz="1600" dirty="0" err="1"/>
                  <a:t>dari</a:t>
                </a:r>
                <a:r>
                  <a:rPr lang="en-ID" sz="1600" dirty="0"/>
                  <a:t> </a:t>
                </a:r>
                <a:r>
                  <a:rPr lang="en-ID" sz="1600" dirty="0" err="1"/>
                  <a:t>angka</a:t>
                </a:r>
                <a:r>
                  <a:rPr lang="en-ID" sz="1600" dirty="0"/>
                  <a:t> yang </a:t>
                </a:r>
                <a:r>
                  <a:rPr lang="en-ID" sz="1600" dirty="0" err="1"/>
                  <a:t>diberikan</a:t>
                </a:r>
                <a:r>
                  <a:rPr lang="en-ID" sz="1600" dirty="0"/>
                  <a:t>. </a:t>
                </a:r>
                <a:r>
                  <a:rPr lang="en-ID" sz="1600" dirty="0" err="1"/>
                  <a:t>Sedangkan</a:t>
                </a:r>
                <a:r>
                  <a:rPr lang="en-ID" sz="1600" dirty="0"/>
                  <a:t> </a:t>
                </a:r>
                <a:r>
                  <a:rPr lang="en-ID" sz="1600" dirty="0" err="1"/>
                  <a:t>angka</a:t>
                </a:r>
                <a:r>
                  <a:rPr lang="en-ID" sz="1600" dirty="0"/>
                  <a:t> </a:t>
                </a:r>
                <a:r>
                  <a:rPr lang="en-ID" sz="1600" dirty="0" err="1"/>
                  <a:t>disebelah</a:t>
                </a:r>
                <a:r>
                  <a:rPr lang="en-ID" sz="1600" dirty="0"/>
                  <a:t> </a:t>
                </a:r>
                <a:r>
                  <a:rPr lang="en-ID" sz="1600" dirty="0" err="1"/>
                  <a:t>kanan</a:t>
                </a:r>
                <a:r>
                  <a:rPr lang="en-ID" sz="1600" dirty="0"/>
                  <a:t> </a:t>
                </a:r>
                <a:r>
                  <a:rPr lang="en-ID" sz="1600" dirty="0" err="1"/>
                  <a:t>dari</a:t>
                </a:r>
                <a:r>
                  <a:rPr lang="en-ID" sz="1600" dirty="0"/>
                  <a:t> </a:t>
                </a:r>
                <a:r>
                  <a:rPr lang="en-ID" sz="1600" dirty="0" err="1"/>
                  <a:t>angka</a:t>
                </a:r>
                <a:r>
                  <a:rPr lang="en-ID" sz="1600" dirty="0"/>
                  <a:t> yang </a:t>
                </a:r>
                <a:r>
                  <a:rPr lang="en-ID" sz="1600" dirty="0" err="1"/>
                  <a:t>diberikan</a:t>
                </a:r>
                <a:r>
                  <a:rPr lang="en-ID" sz="1600" dirty="0"/>
                  <a:t> </a:t>
                </a:r>
                <a:r>
                  <a:rPr lang="en-ID" sz="1600" dirty="0" err="1"/>
                  <a:t>lebih</a:t>
                </a:r>
                <a:r>
                  <a:rPr lang="en-ID" sz="1600" dirty="0"/>
                  <a:t> </a:t>
                </a:r>
                <a:r>
                  <a:rPr lang="en-ID" sz="1600" dirty="0" err="1"/>
                  <a:t>besar</a:t>
                </a:r>
                <a:r>
                  <a:rPr lang="en-ID" sz="1600" dirty="0"/>
                  <a:t> </a:t>
                </a:r>
                <a:r>
                  <a:rPr lang="en-ID" sz="1600" dirty="0" err="1"/>
                  <a:t>dari</a:t>
                </a:r>
                <a:r>
                  <a:rPr lang="en-ID" sz="1600" dirty="0"/>
                  <a:t> </a:t>
                </a:r>
                <a:r>
                  <a:rPr lang="en-ID" sz="1600" dirty="0" err="1"/>
                  <a:t>angka</a:t>
                </a:r>
                <a:r>
                  <a:rPr lang="en-ID" sz="1600" dirty="0"/>
                  <a:t> yang </a:t>
                </a:r>
                <a:r>
                  <a:rPr lang="en-ID" sz="1600" dirty="0" err="1"/>
                  <a:t>diberikan</a:t>
                </a:r>
                <a:r>
                  <a:rPr lang="en-ID" sz="1600" dirty="0"/>
                  <a:t> </a:t>
                </a:r>
                <a:r>
                  <a:rPr lang="en-ID" sz="1600" dirty="0" err="1"/>
                  <a:t>Contoh</a:t>
                </a:r>
                <a:r>
                  <a:rPr lang="en-ID" sz="1600" dirty="0"/>
                  <a:t> :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8&gt;5</m:t>
                    </m:r>
                  </m:oMath>
                </a14:m>
                <a:r>
                  <a:rPr lang="en-ID" sz="1600" dirty="0"/>
                  <a:t> </a:t>
                </a:r>
                <a:r>
                  <a:rPr lang="en-ID" sz="1600" dirty="0" err="1"/>
                  <a:t>karena</a:t>
                </a:r>
                <a:r>
                  <a:rPr lang="en-ID" sz="1600" dirty="0"/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en-ID" sz="1600" dirty="0"/>
                  <a:t> pada garis </a:t>
                </a:r>
                <a:r>
                  <a:rPr lang="en-ID" sz="1600" dirty="0" err="1"/>
                  <a:t>berada</a:t>
                </a:r>
                <a:r>
                  <a:rPr lang="en-ID" sz="1600" dirty="0"/>
                  <a:t> </a:t>
                </a:r>
                <a:r>
                  <a:rPr lang="en-ID" sz="1600" dirty="0" err="1"/>
                  <a:t>disebelah</a:t>
                </a:r>
                <a:r>
                  <a:rPr lang="en-ID" sz="1600" dirty="0"/>
                  <a:t> </a:t>
                </a:r>
                <a:r>
                  <a:rPr lang="en-ID" sz="1600" dirty="0" err="1"/>
                  <a:t>kanan</a:t>
                </a:r>
                <a:r>
                  <a:rPr lang="en-ID" sz="1600" dirty="0"/>
                  <a:t> </a:t>
                </a:r>
                <a:r>
                  <a:rPr lang="en-ID" sz="1600" dirty="0" err="1"/>
                  <a:t>angka</a:t>
                </a:r>
                <a:r>
                  <a:rPr lang="en-ID" sz="1600" dirty="0"/>
                  <a:t> 5. Sama juga </a:t>
                </a:r>
                <a:r>
                  <a:rPr lang="en-ID" sz="1600" dirty="0" err="1"/>
                  <a:t>dengan</a:t>
                </a:r>
                <a:r>
                  <a:rPr lang="en-ID" sz="1600" dirty="0"/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3&lt;6</m:t>
                    </m:r>
                  </m:oMath>
                </a14:m>
                <a:r>
                  <a:rPr lang="en-ID" sz="1600" dirty="0"/>
                  <a:t> </a:t>
                </a:r>
                <a:r>
                  <a:rPr lang="en-ID" sz="1600" dirty="0" err="1"/>
                  <a:t>karena</a:t>
                </a:r>
                <a:r>
                  <a:rPr lang="en-ID" sz="1600" dirty="0"/>
                  <a:t> </a:t>
                </a:r>
                <a:r>
                  <a:rPr lang="en-ID" sz="1600" dirty="0" err="1"/>
                  <a:t>angka</a:t>
                </a:r>
                <a:r>
                  <a:rPr lang="en-ID" sz="1600" dirty="0"/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ID" sz="1600" dirty="0"/>
                  <a:t> </a:t>
                </a:r>
                <a:r>
                  <a:rPr lang="en-ID" sz="1600" dirty="0" err="1"/>
                  <a:t>berada</a:t>
                </a:r>
                <a:r>
                  <a:rPr lang="en-ID" sz="1600" dirty="0"/>
                  <a:t> </a:t>
                </a:r>
                <a:r>
                  <a:rPr lang="en-ID" sz="1600" dirty="0" err="1"/>
                  <a:t>disebelah</a:t>
                </a:r>
                <a:r>
                  <a:rPr lang="en-ID" sz="1600" dirty="0"/>
                  <a:t> </a:t>
                </a:r>
                <a:r>
                  <a:rPr lang="en-ID" sz="1600" dirty="0" err="1"/>
                  <a:t>kiri</a:t>
                </a:r>
                <a:r>
                  <a:rPr lang="en-ID" sz="1600" dirty="0"/>
                  <a:t> </a:t>
                </a:r>
                <a:r>
                  <a:rPr lang="en-ID" sz="1600" dirty="0" err="1"/>
                  <a:t>angka</a:t>
                </a:r>
                <a:r>
                  <a:rPr lang="en-ID" sz="1600" dirty="0"/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ID" sz="16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4484E0-763C-42AA-9460-2A3DA0FBF0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63970"/>
                <a:ext cx="10515600" cy="4767462"/>
              </a:xfrm>
              <a:blipFill>
                <a:blip r:embed="rId2"/>
                <a:stretch>
                  <a:fillRect l="-348" b="-256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881200BC-F7A7-4FF6-A506-47ACB5E677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9640" y="4965089"/>
            <a:ext cx="5000625" cy="4095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03ABE07-4580-47CC-BDE3-9A8DE821EDB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5925" y="226568"/>
            <a:ext cx="1288256" cy="1296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6604767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EB0503-A4DE-4871-81C5-9473E9F7019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987063"/>
                <a:ext cx="10515600" cy="359056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Bilangan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Bulat</a:t>
                </a:r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Jika garis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lurus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yang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menunjukkan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bilangan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asli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diperpanjang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ke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kiri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kita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dapat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memplot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titik-titik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yang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berjarak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sama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di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sebelah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kiri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endParaRPr lang="en-ID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D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Titik-titik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tersebut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mewakili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bilangan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negative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dimana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pada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bilangan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asli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didahului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dengan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tanda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minus,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contoh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−4</m:t>
                    </m:r>
                  </m:oMath>
                </a14:m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Kumpulan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bilangan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positif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negative, dan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nol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disebut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bilangan</a:t>
                </a:r>
                <a:r>
                  <a:rPr lang="en-ID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bulat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marL="0" indent="0">
                  <a:buNone/>
                </a:pP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Letakkan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simbol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&lt;</m:t>
                    </m:r>
                  </m:oMath>
                </a14:m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atau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</m:t>
                    </m:r>
                  </m:oMath>
                </a14:m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pada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pasangan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bilangan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berikut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a) 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−3       −6</m:t>
                    </m:r>
                  </m:oMath>
                </a14:m>
                <a:endParaRPr lang="en-ID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b) 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           −4</m:t>
                    </m:r>
                  </m:oMath>
                </a14:m>
                <a:endParaRPr lang="en-ID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EB0503-A4DE-4871-81C5-9473E9F701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987063"/>
                <a:ext cx="10515600" cy="3590560"/>
              </a:xfrm>
              <a:blipFill>
                <a:blip r:embed="rId2"/>
                <a:stretch>
                  <a:fillRect l="-348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71D12454-E438-46DB-AE12-767A2A26ED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1063" y="3116766"/>
            <a:ext cx="5467350" cy="4286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D9AC06A-2324-44D7-941A-101AA88539A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5925" y="226568"/>
            <a:ext cx="1288256" cy="1296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1042156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0AD11-8954-480F-BDC2-A9E95C90370B}"/>
              </a:ext>
            </a:extLst>
          </p:cNvPr>
          <p:cNvSpPr txBox="1">
            <a:spLocks/>
          </p:cNvSpPr>
          <p:nvPr/>
        </p:nvSpPr>
        <p:spPr>
          <a:xfrm>
            <a:off x="838200" y="833206"/>
            <a:ext cx="10515600" cy="68995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000" b="1" dirty="0">
                <a:solidFill>
                  <a:schemeClr val="tx1"/>
                </a:solidFill>
              </a:rPr>
              <a:t>Tanda </a:t>
            </a:r>
            <a:r>
              <a:rPr lang="en-US" sz="3000" b="1" dirty="0" err="1">
                <a:solidFill>
                  <a:schemeClr val="tx1"/>
                </a:solidFill>
              </a:rPr>
              <a:t>Kurung</a:t>
            </a:r>
            <a:endParaRPr lang="en-ID" sz="3000" b="1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0C2E28B-41BF-4B1E-B2AB-09C560AB0C4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480645"/>
                <a:ext cx="10515600" cy="949568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06000" indent="-30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30000" indent="-30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6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900000" indent="-270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4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3pPr>
                <a:lvl4pPr marL="1242000" indent="-234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4pPr>
                <a:lvl5pPr marL="1602000" indent="-234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5pPr>
                <a:lvl6pPr marL="1900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6pPr>
                <a:lvl7pPr marL="2200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7pPr>
                <a:lvl8pPr marL="2500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8pPr>
                <a:lvl9pPr marL="2800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Wingdings 2" panose="05020102010507070707" pitchFamily="18" charset="2"/>
                  <a:buNone/>
                </a:pP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Tanda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kurung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harus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dgunakan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disekitar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bilangan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negatif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untuk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memisahkan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tanda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minus yang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melekat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pada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bilangan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dari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simbol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operasi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aritmatika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Contoh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</a:t>
                </a:r>
                <a14:m>
                  <m:oMath xmlns:m="http://schemas.openxmlformats.org/officeDocument/2006/math">
                    <m:r>
                      <a:rPr lang="en-US" sz="1600" i="1" smtClean="0">
                        <a:latin typeface="Cambria Math" panose="02040503050406030204" pitchFamily="18" charset="0"/>
                      </a:rPr>
                      <m:t>5−−3</m:t>
                    </m:r>
                  </m:oMath>
                </a14:m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harus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ditulis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i="1" smtClean="0">
                        <a:latin typeface="Cambria Math" panose="02040503050406030204" pitchFamily="18" charset="0"/>
                      </a:rPr>
                      <m:t>5−(−3)</m:t>
                    </m:r>
                  </m:oMath>
                </a14:m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ID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Jangan</a:t>
                </a:r>
                <a:r>
                  <a:rPr lang="en-ID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pernah</a:t>
                </a:r>
                <a:r>
                  <a:rPr lang="en-ID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menuliskan</a:t>
                </a:r>
                <a:r>
                  <a:rPr lang="en-ID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dua</a:t>
                </a:r>
                <a:r>
                  <a:rPr lang="en-ID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simbol</a:t>
                </a:r>
                <a:r>
                  <a:rPr lang="en-ID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operasi</a:t>
                </a:r>
                <a:r>
                  <a:rPr lang="en-ID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aritmatika</a:t>
                </a:r>
                <a:r>
                  <a:rPr lang="en-ID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tanpa</a:t>
                </a:r>
                <a:r>
                  <a:rPr lang="en-ID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menggunakan</a:t>
                </a:r>
                <a:r>
                  <a:rPr lang="en-ID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tanada</a:t>
                </a:r>
                <a:r>
                  <a:rPr lang="en-ID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kurung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0C2E28B-41BF-4B1E-B2AB-09C560AB0C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480645"/>
                <a:ext cx="10515600" cy="949568"/>
              </a:xfrm>
              <a:prstGeom prst="rect">
                <a:avLst/>
              </a:prstGeom>
              <a:blipFill>
                <a:blip r:embed="rId2"/>
                <a:stretch>
                  <a:fillRect l="-348" t="-1923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717E01F9-56E8-4F08-AE18-5F52263A1E88}"/>
              </a:ext>
            </a:extLst>
          </p:cNvPr>
          <p:cNvSpPr txBox="1">
            <a:spLocks/>
          </p:cNvSpPr>
          <p:nvPr/>
        </p:nvSpPr>
        <p:spPr>
          <a:xfrm>
            <a:off x="838200" y="2303579"/>
            <a:ext cx="10515600" cy="6899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 err="1"/>
              <a:t>Penjumlahan</a:t>
            </a:r>
            <a:r>
              <a:rPr lang="en-US" sz="3000" b="1" dirty="0"/>
              <a:t> dan </a:t>
            </a:r>
            <a:r>
              <a:rPr lang="en-US" sz="3000" b="1" dirty="0" err="1"/>
              <a:t>Pengurangan</a:t>
            </a:r>
            <a:endParaRPr lang="en-ID" sz="3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807E7665-CE82-4AEF-9752-8A723309373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2993531"/>
                <a:ext cx="10515600" cy="360069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Menjumlahkan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dua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bilangan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akan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menghasilkan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jumlah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dan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mengurangkan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dua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bilangan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akan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menghasilkan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selisih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Contoh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6+2=8</m:t>
                    </m:r>
                  </m:oMath>
                </a14:m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Menambahkan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Gerakan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ke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kanan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dari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bilangan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pertama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dan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mengurangkan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gerakan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ke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kiri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dari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bilangan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pertama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yaitu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6−2=4</m:t>
                    </m:r>
                  </m:oMath>
                </a14:m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ID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ID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ID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Menjumlahkan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bilangan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negatif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sama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dengan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mengurangkan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rekanan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positifnya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Contoh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7+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−2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=7−2=5</m:t>
                    </m:r>
                  </m:oMath>
                </a14:m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Mengurangkan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bilangan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negatif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sama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dengan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menjumlahkan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rekanan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positifnya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Contoh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7−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−2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=7+2=9</m:t>
                    </m:r>
                  </m:oMath>
                </a14:m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Jadi,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berapakah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nilai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dari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a) 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8+(−3)</m:t>
                    </m:r>
                  </m:oMath>
                </a14:m>
                <a:endParaRPr lang="en-ID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b) 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9−(−6)</m:t>
                    </m:r>
                  </m:oMath>
                </a14:m>
                <a:endParaRPr lang="en-ID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807E7665-CE82-4AEF-9752-8A72330937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993531"/>
                <a:ext cx="10515600" cy="3600693"/>
              </a:xfrm>
              <a:prstGeom prst="rect">
                <a:avLst/>
              </a:prstGeom>
              <a:blipFill>
                <a:blip r:embed="rId3"/>
                <a:stretch>
                  <a:fillRect l="-348" t="-1184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3D0DE8B8-6B91-40D4-87F2-034C662757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5395" y="3816465"/>
            <a:ext cx="5457825" cy="9334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9082E4-CC83-45D0-838C-ADE7776FE73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5925" y="226568"/>
            <a:ext cx="1288256" cy="1296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7427316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D497E-34E2-4EE0-B4BC-6B7D6AC98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453" y="833206"/>
            <a:ext cx="10515600" cy="689952"/>
          </a:xfrm>
        </p:spPr>
        <p:txBody>
          <a:bodyPr>
            <a:normAutofit/>
          </a:bodyPr>
          <a:lstStyle/>
          <a:p>
            <a:r>
              <a:rPr lang="en-US" sz="3600" b="1" dirty="0" err="1"/>
              <a:t>Perkalian</a:t>
            </a:r>
            <a:r>
              <a:rPr lang="en-US" sz="3600" b="1" dirty="0"/>
              <a:t> dan </a:t>
            </a:r>
            <a:r>
              <a:rPr lang="en-US" sz="3600" b="1" dirty="0" err="1"/>
              <a:t>Pembagian</a:t>
            </a:r>
            <a:endParaRPr lang="en-ID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F8DDD1-E049-4B3B-A95F-45E70DF3D6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057399"/>
                <a:ext cx="10515600" cy="293663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Mengalikan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dua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bilangan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akan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menghasilkan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hasil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kali dan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membagi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dua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bilangan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akan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menghasilkan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hasil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bagi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Mengalikan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dan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membagikan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dua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bilangan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positif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atau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dua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bilangan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negatif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akan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menghasilkan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bilangan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positif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Contoh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12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×2=24</m:t>
                    </m:r>
                  </m:oMath>
                </a14:m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dan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−12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−2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=24</m:t>
                    </m:r>
                  </m:oMath>
                </a14:m>
                <a:endParaRPr lang="en-ID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12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÷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2=6</m:t>
                    </m:r>
                  </m:oMath>
                </a14:m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dan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−12</m:t>
                        </m:r>
                      </m:e>
                    </m:d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÷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−2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=6</m:t>
                    </m:r>
                  </m:oMath>
                </a14:m>
                <a:endParaRPr lang="en-ID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Mengalikan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dan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membagikan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bilangan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positif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dengan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bilangan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negative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akan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menghasilkan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bilangan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negative.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Contoh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12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−2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=−24</m:t>
                    </m:r>
                  </m:oMath>
                </a14:m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−12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÷2=−6</m:t>
                    </m:r>
                  </m:oMath>
                </a14:m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dan 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8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÷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−4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=−2</m:t>
                    </m:r>
                  </m:oMath>
                </a14:m>
                <a:endParaRPr lang="en-US" sz="1600" b="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D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Jadi,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berapakah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nilai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dari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</a:t>
                </a:r>
              </a:p>
              <a:p>
                <a:pPr marL="0" indent="0">
                  <a:buNone/>
                </a:pPr>
                <a:endParaRPr lang="en-ID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F8DDD1-E049-4B3B-A95F-45E70DF3D6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057399"/>
                <a:ext cx="10515600" cy="2936632"/>
              </a:xfrm>
              <a:blipFill>
                <a:blip r:embed="rId2"/>
                <a:stretch>
                  <a:fillRect l="-348" t="-4357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6DBFFF46-4D05-4941-8744-F7C6AFF8911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180"/>
          <a:stretch/>
        </p:blipFill>
        <p:spPr>
          <a:xfrm>
            <a:off x="1855911" y="4829040"/>
            <a:ext cx="1535209" cy="11957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6BEF748-F424-4DC3-A3C0-C5C00AE09AC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5925" y="226568"/>
            <a:ext cx="1288256" cy="1296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0726562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D497E-34E2-4EE0-B4BC-6B7D6AC98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453" y="760836"/>
            <a:ext cx="10515600" cy="689952"/>
          </a:xfrm>
        </p:spPr>
        <p:txBody>
          <a:bodyPr>
            <a:normAutofit/>
          </a:bodyPr>
          <a:lstStyle/>
          <a:p>
            <a:r>
              <a:rPr lang="en-US" sz="3200" b="1" dirty="0"/>
              <a:t>Tanda </a:t>
            </a:r>
            <a:r>
              <a:rPr lang="en-US" sz="3200" b="1" dirty="0" err="1"/>
              <a:t>Kurung</a:t>
            </a:r>
            <a:r>
              <a:rPr lang="en-US" sz="3200" b="1" dirty="0"/>
              <a:t> dan </a:t>
            </a:r>
            <a:r>
              <a:rPr lang="en-US" sz="3200" b="1" dirty="0" err="1"/>
              <a:t>Aturan</a:t>
            </a:r>
            <a:r>
              <a:rPr lang="en-US" sz="3200" b="1" dirty="0"/>
              <a:t> </a:t>
            </a:r>
            <a:r>
              <a:rPr lang="en-US" sz="3200" b="1" dirty="0" err="1"/>
              <a:t>Prioritas</a:t>
            </a:r>
            <a:endParaRPr lang="en-ID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F8DDD1-E049-4B3B-A95F-45E70DF3D6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24453" y="1846385"/>
                <a:ext cx="10515600" cy="501161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Tanda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kurung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dan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aturan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prioritas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digunakan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untuk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menghilangkan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ambiguitas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dalam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perhitungan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Untuk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contoh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14−3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×4</m:t>
                    </m:r>
                  </m:oMath>
                </a14:m>
                <a:r>
                  <a:rPr lang="en-ID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bisa</a:t>
                </a:r>
                <a:r>
                  <a:rPr lang="en-ID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menjadi</a:t>
                </a:r>
                <a:r>
                  <a:rPr lang="en-ID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</a:t>
                </a:r>
              </a:p>
              <a:p>
                <a:pPr marL="0" indent="0">
                  <a:buNone/>
                </a:pPr>
                <a:r>
                  <a:rPr lang="en-ID" sz="24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11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×4=44</m:t>
                    </m:r>
                  </m:oMath>
                </a14:m>
                <a:r>
                  <a:rPr lang="en-ID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</a:t>
                </a:r>
                <a:r>
                  <a:rPr lang="en-ID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atau</a:t>
                </a:r>
                <a:r>
                  <a:rPr lang="en-ID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14−12=2</m:t>
                    </m:r>
                  </m:oMath>
                </a14:m>
                <a:endParaRPr lang="en-ID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D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tergantung</a:t>
                </a:r>
                <a:r>
                  <a:rPr lang="en-ID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pada </a:t>
                </a:r>
                <a:r>
                  <a:rPr lang="en-ID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operasi</a:t>
                </a:r>
                <a:r>
                  <a:rPr lang="en-ID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mana yang </a:t>
                </a:r>
                <a:r>
                  <a:rPr lang="en-ID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dikerjakan</a:t>
                </a:r>
                <a:r>
                  <a:rPr lang="en-ID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terlebih</a:t>
                </a:r>
                <a:r>
                  <a:rPr lang="en-ID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dahulu</a:t>
                </a:r>
                <a:r>
                  <a:rPr lang="en-ID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en-ID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Aturan</a:t>
                </a:r>
                <a:r>
                  <a:rPr lang="en-ID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prioritas</a:t>
                </a:r>
                <a:r>
                  <a:rPr lang="en-ID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:</a:t>
                </a:r>
              </a:p>
              <a:p>
                <a:pPr marL="342900" indent="-342900">
                  <a:buAutoNum type="alphaLcParenBoth"/>
                </a:pPr>
                <a:r>
                  <a:rPr lang="en-ID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Kerjakan</a:t>
                </a:r>
                <a:r>
                  <a:rPr lang="en-ID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dari</a:t>
                </a:r>
                <a:r>
                  <a:rPr lang="en-ID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kiri</a:t>
                </a:r>
                <a:r>
                  <a:rPr lang="en-ID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pembagian</a:t>
                </a:r>
                <a:r>
                  <a:rPr lang="en-ID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dan </a:t>
                </a:r>
                <a:r>
                  <a:rPr lang="en-ID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perkalian</a:t>
                </a:r>
                <a:r>
                  <a:rPr lang="en-ID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sebagaimana</a:t>
                </a:r>
                <a:r>
                  <a:rPr lang="en-ID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adanya</a:t>
                </a:r>
                <a:endParaRPr lang="en-ID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AutoNum type="alphaLcParenBoth"/>
                </a:pPr>
                <a:r>
                  <a:rPr lang="en-ID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Kerjakan</a:t>
                </a:r>
                <a:r>
                  <a:rPr lang="en-ID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dari</a:t>
                </a:r>
                <a:r>
                  <a:rPr lang="en-ID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kiri</a:t>
                </a:r>
                <a:r>
                  <a:rPr lang="en-ID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penjumlahan</a:t>
                </a:r>
                <a:r>
                  <a:rPr lang="en-ID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dan </a:t>
                </a:r>
                <a:r>
                  <a:rPr lang="en-ID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pengurangan</a:t>
                </a:r>
                <a:r>
                  <a:rPr lang="en-ID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sebagaimana</a:t>
                </a:r>
                <a:r>
                  <a:rPr lang="en-ID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adanya</a:t>
                </a:r>
                <a:endParaRPr lang="en-ID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D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F8DDD1-E049-4B3B-A95F-45E70DF3D6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24453" y="1846385"/>
                <a:ext cx="10515600" cy="5011615"/>
              </a:xfrm>
              <a:blipFill>
                <a:blip r:embed="rId2"/>
                <a:stretch>
                  <a:fillRect l="-870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564F6BD1-A789-4D4F-A261-4689AD3167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5925" y="226568"/>
            <a:ext cx="1288256" cy="1296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0664194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0C469979-75A8-411B-B48F-DEFBD6BAB12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81192" y="748146"/>
                <a:ext cx="11029615" cy="5110654"/>
              </a:xfrm>
              <a:prstGeom prst="rect">
                <a:avLst/>
              </a:prstGeom>
            </p:spPr>
            <p:txBody>
              <a:bodyPr/>
              <a:lstStyle>
                <a:lvl1pPr marL="306000" indent="-30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30000" indent="-30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6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900000" indent="-270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4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3pPr>
                <a:lvl4pPr marL="1242000" indent="-234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4pPr>
                <a:lvl5pPr marL="1602000" indent="-234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5pPr>
                <a:lvl6pPr marL="1900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6pPr>
                <a:lvl7pPr marL="2200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7pPr>
                <a:lvl8pPr marL="2500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8pPr>
                <a:lvl9pPr marL="2800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Wingdings 2" panose="05020102010507070707" pitchFamily="18" charset="2"/>
                  <a:buNone/>
                </a:pPr>
                <a:r>
                  <a:rPr lang="en-ID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Contoh, untuk menghitung </a:t>
                </a:r>
                <a:r>
                  <a:rPr lang="en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>
                  <a:buFont typeface="Wingdings 2" panose="05020102010507070707" pitchFamily="18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4+5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×6÷2−12÷4×2−1</m:t>
                      </m:r>
                    </m:oMath>
                  </m:oMathPara>
                </a14:m>
                <a:endParaRPr lang="en-US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Font typeface="Wingdings 2" panose="05020102010507070707" pitchFamily="18" charset="2"/>
                  <a:buNone/>
                </a:pPr>
                <a:r>
                  <a:rPr lang="en-ID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Langkah pertama dari kiri ke kanan menghasilkan:</a:t>
                </a:r>
              </a:p>
              <a:p>
                <a:pPr marL="0" indent="0">
                  <a:buFont typeface="Wingdings 2" panose="05020102010507070707" pitchFamily="18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4+30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÷2−3×2−1</m:t>
                      </m:r>
                    </m:oMath>
                  </m:oMathPara>
                </a14:m>
                <a:endParaRPr lang="en-US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Font typeface="Wingdings 2" panose="05020102010507070707" pitchFamily="18" charset="2"/>
                  <a:buNone/>
                </a:pPr>
                <a:r>
                  <a:rPr lang="en-ID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Langkah kedua dari kiri ke kanan menghasilkan:</a:t>
                </a:r>
              </a:p>
              <a:p>
                <a:pPr marL="0" indent="0">
                  <a:buFont typeface="Wingdings 2" panose="05020102010507070707" pitchFamily="18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4+15−6−1</m:t>
                      </m:r>
                    </m:oMath>
                  </m:oMathPara>
                </a14:m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Font typeface="Wingdings 2" panose="05020102010507070707" pitchFamily="18" charset="2"/>
                  <a:buNone/>
                </a:pPr>
                <a:r>
                  <a:rPr lang="en-ID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dan langkah terakhir adalah </a:t>
                </a:r>
              </a:p>
              <a:p>
                <a:pPr marL="0" indent="0">
                  <a:buFont typeface="Wingdings 2" panose="05020102010507070707" pitchFamily="18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19−7=12</m:t>
                      </m:r>
                    </m:oMath>
                  </m:oMathPara>
                </a14:m>
                <a:endParaRPr lang="en-US"/>
              </a:p>
              <a:p>
                <a:pPr marL="0" indent="0">
                  <a:buFont typeface="Wingdings 2" panose="05020102010507070707" pitchFamily="18" charset="2"/>
                  <a:buNone/>
                </a:pPr>
                <a:r>
                  <a:rPr lang="en-US"/>
                  <a:t>Jika perhitungan memuat tanda kurung, maka operasi dalam tanda kurung dikerjakan terlebih dahulu, sebagai contoh:</a:t>
                </a:r>
              </a:p>
              <a:p>
                <a:pPr marL="0" indent="0">
                  <a:buFont typeface="Wingdings 2" panose="05020102010507070707" pitchFamily="18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14−3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×4=11×4=44</m:t>
                      </m:r>
                    </m:oMath>
                  </m:oMathPara>
                </a14:m>
                <a:endParaRPr lang="en-US"/>
              </a:p>
              <a:p>
                <a:pPr marL="0" indent="0">
                  <a:buFont typeface="Wingdings 2" panose="05020102010507070707" pitchFamily="18" charset="2"/>
                  <a:buNone/>
                </a:pPr>
                <a:endParaRPr lang="en-US"/>
              </a:p>
              <a:p>
                <a:pPr marL="0" indent="0">
                  <a:buFont typeface="Wingdings 2" panose="05020102010507070707" pitchFamily="18" charset="2"/>
                  <a:buNone/>
                </a:pPr>
                <a:r>
                  <a:rPr lang="en-US"/>
                  <a:t>Jadi, berapakah hasil dari</a:t>
                </a:r>
              </a:p>
              <a:p>
                <a:pPr marL="0" indent="0">
                  <a:buFont typeface="Wingdings 2" panose="05020102010507070707" pitchFamily="18" charset="2"/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34+10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2−3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×5=</m:t>
                    </m:r>
                  </m:oMath>
                </a14:m>
                <a:r>
                  <a:rPr lang="en-US"/>
                  <a:t> ………………….</a:t>
                </a:r>
                <a:endParaRPr lang="id-ID"/>
              </a:p>
            </p:txBody>
          </p:sp>
        </mc:Choice>
        <mc:Fallback xmlns=""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0C469979-75A8-411B-B48F-DEFBD6BAB1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192" y="748146"/>
                <a:ext cx="11029615" cy="5110654"/>
              </a:xfrm>
              <a:prstGeom prst="rect">
                <a:avLst/>
              </a:prstGeom>
              <a:blipFill>
                <a:blip r:embed="rId2"/>
                <a:stretch>
                  <a:fillRect l="-442" t="-716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947A8906-1F3B-459B-AFCA-688F20E3A3E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5925" y="226568"/>
            <a:ext cx="1288256" cy="1296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4204190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D497E-34E2-4EE0-B4BC-6B7D6AC98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0592"/>
            <a:ext cx="10515600" cy="689952"/>
          </a:xfrm>
        </p:spPr>
        <p:txBody>
          <a:bodyPr>
            <a:normAutofit/>
          </a:bodyPr>
          <a:lstStyle/>
          <a:p>
            <a:r>
              <a:rPr lang="en-US" sz="3200" b="1" dirty="0"/>
              <a:t>Tanda </a:t>
            </a:r>
            <a:r>
              <a:rPr lang="en-US" sz="3200" b="1" dirty="0" err="1"/>
              <a:t>Kurung</a:t>
            </a:r>
            <a:r>
              <a:rPr lang="en-US" sz="3200" b="1" dirty="0"/>
              <a:t> dan </a:t>
            </a:r>
            <a:r>
              <a:rPr lang="en-US" sz="3200" b="1" dirty="0" err="1"/>
              <a:t>Aturan</a:t>
            </a:r>
            <a:r>
              <a:rPr lang="en-US" sz="3200" b="1" dirty="0"/>
              <a:t> </a:t>
            </a:r>
            <a:r>
              <a:rPr lang="en-US" sz="3200" b="1" dirty="0" err="1"/>
              <a:t>Prioritas</a:t>
            </a:r>
            <a:endParaRPr lang="en-ID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F8DDD1-E049-4B3B-A95F-45E70DF3D6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24453" y="1420204"/>
                <a:ext cx="10515600" cy="543779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Catatan :</a:t>
                </a:r>
              </a:p>
              <a:p>
                <a:pPr marL="0" indent="0">
                  <a:buNone/>
                </a:pP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Ketika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tanda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kurung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digunakan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tanda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perkalian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dapat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dihilangkan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dan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tanda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pembagian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dapat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diganti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dengan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garis,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sehingga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5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×(6−4)</m:t>
                    </m:r>
                  </m:oMath>
                </a14:m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menjadi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5(6−4)</m:t>
                    </m:r>
                  </m:oMath>
                </a14:m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dan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(25−10)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÷5</m:t>
                    </m:r>
                  </m:oMath>
                </a14:m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menjadi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(25−10)/5</m:t>
                    </m:r>
                  </m:oMath>
                </a14:m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atau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D" sz="16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25−10</m:t>
                        </m:r>
                      </m:num>
                      <m:den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lang="en-ID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D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Ketika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mengoperasikan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ekspresi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yang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mengandung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tanda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kurung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bersarang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tanda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kurung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terdalam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dioperasikan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terlebih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dahulu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Contoh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3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4−2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5−1</m:t>
                              </m:r>
                            </m:e>
                          </m:d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=3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4−2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×4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=3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4−8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=3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−4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=−12</m:t>
                      </m:r>
                    </m:oMath>
                  </m:oMathPara>
                </a14:m>
                <a:endParaRPr lang="en-ID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D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Jadi,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berapakah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hasil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dari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5−</m:t>
                    </m:r>
                    <m:d>
                      <m:dPr>
                        <m:begChr m:val="{"/>
                        <m:endChr m:val="}"/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8+7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4−1</m:t>
                            </m:r>
                          </m:e>
                        </m:d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f>
                          <m:fPr>
                            <m:type m:val="lin"/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…………………..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F8DDD1-E049-4B3B-A95F-45E70DF3D6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24453" y="1420204"/>
                <a:ext cx="10515600" cy="5437796"/>
              </a:xfrm>
              <a:blipFill>
                <a:blip r:embed="rId2"/>
                <a:stretch>
                  <a:fillRect l="-290" r="-290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E29A3F92-7909-4B62-B9D7-DE9EB0E7A87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5925" y="226568"/>
            <a:ext cx="1288256" cy="1296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2172251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D497E-34E2-4EE0-B4BC-6B7D6AC98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685"/>
            <a:ext cx="10515600" cy="689952"/>
          </a:xfrm>
        </p:spPr>
        <p:txBody>
          <a:bodyPr>
            <a:normAutofit/>
          </a:bodyPr>
          <a:lstStyle/>
          <a:p>
            <a:r>
              <a:rPr lang="en-US" sz="3000" b="1" dirty="0"/>
              <a:t>Hukum Dasar </a:t>
            </a:r>
            <a:r>
              <a:rPr lang="en-US" sz="3000" b="1" dirty="0" err="1"/>
              <a:t>Aritmatika</a:t>
            </a:r>
            <a:endParaRPr lang="en-ID" sz="3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F8DDD1-E049-4B3B-A95F-45E70DF3D6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934309"/>
                <a:ext cx="10515600" cy="3851030"/>
              </a:xfrm>
            </p:spPr>
            <p:txBody>
              <a:bodyPr>
                <a:normAutofit/>
              </a:bodyPr>
              <a:lstStyle/>
              <a:p>
                <a:pPr marL="342900" indent="-342900">
                  <a:buAutoNum type="arabicPeriod"/>
                </a:pPr>
                <a:r>
                  <a:rPr lang="en-US" sz="16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Komutatif</a:t>
                </a:r>
                <a:endPara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Dua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bilangan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bulat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dapat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dijumlahkan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atau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dikalikan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dalam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kedua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urutan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tanpa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mempengaruhi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hasilnya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Contoh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5+8=8+5=13</m:t>
                    </m:r>
                  </m:oMath>
                </a14:m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dan  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5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×8=8×5=40</m:t>
                    </m:r>
                  </m:oMath>
                </a14:m>
                <a:endParaRPr lang="en-ID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D" sz="1600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Dapat</a:t>
                </a:r>
                <a:r>
                  <a:rPr lang="en-ID" sz="16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dikatakan</a:t>
                </a:r>
                <a:r>
                  <a:rPr lang="en-ID" sz="16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bahwa</a:t>
                </a:r>
                <a:r>
                  <a:rPr lang="en-ID" sz="16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penjumlahan</a:t>
                </a:r>
                <a:r>
                  <a:rPr lang="en-ID" sz="16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dan </a:t>
                </a:r>
                <a:r>
                  <a:rPr lang="en-ID" sz="1600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perkalian</a:t>
                </a:r>
                <a:r>
                  <a:rPr lang="en-ID" sz="16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adalah</a:t>
                </a:r>
                <a:r>
                  <a:rPr lang="en-ID" sz="16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operasi</a:t>
                </a:r>
                <a:r>
                  <a:rPr lang="en-ID" sz="16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komutatif</a:t>
                </a:r>
                <a:endParaRPr lang="en-ID" sz="16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Urutan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dalam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dua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bilangan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bulat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yang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dikurangkan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dan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dibagi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mempengaruhi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hasilnya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Contoh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4−2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≠2−4</m:t>
                    </m:r>
                  </m:oMath>
                </a14:m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karena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4−2=2</m:t>
                    </m:r>
                  </m:oMath>
                </a14:m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dan 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2−4=−2</m:t>
                    </m:r>
                  </m:oMath>
                </a14:m>
                <a:endParaRPr lang="en-ID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Tanda </a:t>
                </a:r>
                <a14:m>
                  <m:oMath xmlns:m="http://schemas.openxmlformats.org/officeDocument/2006/math">
                    <m:r>
                      <a:rPr lang="en-ID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≠</m:t>
                    </m:r>
                  </m:oMath>
                </a14:m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artinya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tidak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sama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dengan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Begitu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juga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4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÷2≠2÷4</m:t>
                    </m:r>
                  </m:oMath>
                </a14:m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ID" sz="1600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Dapat</a:t>
                </a:r>
                <a:r>
                  <a:rPr lang="en-ID" sz="16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dikatakan</a:t>
                </a:r>
                <a:r>
                  <a:rPr lang="en-ID" sz="16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bahwa</a:t>
                </a:r>
                <a:r>
                  <a:rPr lang="en-ID" sz="16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pengurangan</a:t>
                </a:r>
                <a:r>
                  <a:rPr lang="en-ID" sz="16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dan </a:t>
                </a:r>
                <a:r>
                  <a:rPr lang="en-ID" sz="1600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pembagian</a:t>
                </a:r>
                <a:r>
                  <a:rPr lang="en-ID" sz="16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bukan</a:t>
                </a:r>
                <a:r>
                  <a:rPr lang="en-ID" sz="16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operasi</a:t>
                </a:r>
                <a:r>
                  <a:rPr lang="en-ID" sz="16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komutatif</a:t>
                </a:r>
                <a:endParaRPr lang="en-ID" sz="16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D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F8DDD1-E049-4B3B-A95F-45E70DF3D6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934309"/>
                <a:ext cx="10515600" cy="3851030"/>
              </a:xfrm>
              <a:blipFill>
                <a:blip r:embed="rId2"/>
                <a:stretch>
                  <a:fillRect l="-348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4FD185B9-E3AD-4457-B25C-3360EA7F636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5925" y="226568"/>
            <a:ext cx="1288256" cy="1296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0945401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D497E-34E2-4EE0-B4BC-6B7D6AC98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3805"/>
            <a:ext cx="10515600" cy="689952"/>
          </a:xfrm>
        </p:spPr>
        <p:txBody>
          <a:bodyPr>
            <a:normAutofit/>
          </a:bodyPr>
          <a:lstStyle/>
          <a:p>
            <a:r>
              <a:rPr lang="en-US" sz="3000" b="1" dirty="0"/>
              <a:t>Hukum Dasar </a:t>
            </a:r>
            <a:r>
              <a:rPr lang="en-US" sz="3000" b="1" dirty="0" err="1"/>
              <a:t>Aritmatika</a:t>
            </a:r>
            <a:endParaRPr lang="en-ID" sz="3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F8DDD1-E049-4B3B-A95F-45E70DF3D6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934308"/>
                <a:ext cx="10515600" cy="4697124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   </a:t>
                </a:r>
                <a:r>
                  <a:rPr lang="en-US" sz="16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Asosiatif</a:t>
                </a:r>
                <a:endPara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Cara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dimana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tiga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atau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lebih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bilangan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bulat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adalah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asosiatif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dibawah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penjumlahan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atau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perkalian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tidak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mempengaruhi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hasil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Contoh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3+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4+5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3+4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+5=3+4+5=12</m:t>
                    </m:r>
                  </m:oMath>
                </a14:m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dan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×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×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e>
                    </m:d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5=3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4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5=60</m:t>
                    </m:r>
                  </m:oMath>
                </a14:m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ID" sz="1600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Dapat</a:t>
                </a:r>
                <a:r>
                  <a:rPr lang="en-ID" sz="16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dikatakan</a:t>
                </a:r>
                <a:r>
                  <a:rPr lang="en-ID" sz="16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bahwa</a:t>
                </a:r>
                <a:r>
                  <a:rPr lang="en-ID" sz="16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penjumlahan</a:t>
                </a:r>
                <a:r>
                  <a:rPr lang="en-ID" sz="16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dan </a:t>
                </a:r>
                <a:r>
                  <a:rPr lang="en-ID" sz="1600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perkalian</a:t>
                </a:r>
                <a:r>
                  <a:rPr lang="en-ID" sz="16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adalah</a:t>
                </a:r>
                <a:r>
                  <a:rPr lang="en-ID" sz="16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operasi</a:t>
                </a:r>
                <a:r>
                  <a:rPr lang="en-ID" sz="16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asosiatif</a:t>
                </a:r>
                <a:endParaRPr lang="en-ID" sz="16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Cara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dimana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tiga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atau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lebih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bilangan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bulat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adalah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asosiatif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dibawah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penjumlahan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atau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perkalian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tidak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mempengaruhi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hasil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Contoh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3−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4−5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≠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3−4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−5</m:t>
                    </m:r>
                  </m:oMath>
                </a14:m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karena</a:t>
                </a:r>
              </a:p>
              <a:p>
                <a:pPr marL="0" indent="0">
                  <a:buNone/>
                </a:pP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3−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4−5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=3−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=3+1=4</m:t>
                    </m:r>
                  </m:oMath>
                </a14:m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dan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3−4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−5=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−5=−6</m:t>
                    </m:r>
                  </m:oMath>
                </a14:m>
                <a:endParaRPr lang="en-ID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Begitu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juga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24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÷(4÷2)≠(24÷4)÷2</m:t>
                    </m:r>
                  </m:oMath>
                </a14:m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karena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24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÷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4÷2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=24÷2=12</m:t>
                    </m:r>
                  </m:oMath>
                </a14:m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dan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24÷4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÷2=6÷2=3</m:t>
                    </m:r>
                  </m:oMath>
                </a14:m>
                <a:endParaRPr lang="en-ID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D" sz="1600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Dapat</a:t>
                </a:r>
                <a:r>
                  <a:rPr lang="en-ID" sz="16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dikatakan</a:t>
                </a:r>
                <a:r>
                  <a:rPr lang="en-ID" sz="16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bahwa</a:t>
                </a:r>
                <a:r>
                  <a:rPr lang="en-ID" sz="16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pengurangan</a:t>
                </a:r>
                <a:r>
                  <a:rPr lang="en-ID" sz="16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dan </a:t>
                </a:r>
                <a:r>
                  <a:rPr lang="en-ID" sz="1600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pembagian</a:t>
                </a:r>
                <a:r>
                  <a:rPr lang="en-ID" sz="16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bukan</a:t>
                </a:r>
                <a:r>
                  <a:rPr lang="en-ID" sz="16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operasi</a:t>
                </a:r>
                <a:r>
                  <a:rPr lang="en-ID" sz="16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asosiatif</a:t>
                </a:r>
                <a:endParaRPr lang="en-ID" sz="16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D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F8DDD1-E049-4B3B-A95F-45E70DF3D6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934308"/>
                <a:ext cx="10515600" cy="4697124"/>
              </a:xfrm>
              <a:blipFill>
                <a:blip r:embed="rId2"/>
                <a:stretch>
                  <a:fillRect l="-232" t="-2205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F3B30D0B-8F45-4A3B-ACD9-BE1369B84EA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5925" y="226568"/>
            <a:ext cx="1288256" cy="1296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0092459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D497E-34E2-4EE0-B4BC-6B7D6AC98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51991"/>
            <a:ext cx="10515600" cy="689952"/>
          </a:xfrm>
        </p:spPr>
        <p:txBody>
          <a:bodyPr>
            <a:normAutofit/>
          </a:bodyPr>
          <a:lstStyle/>
          <a:p>
            <a:r>
              <a:rPr lang="en-US" sz="3000" b="1" dirty="0"/>
              <a:t>Hukum Dasar </a:t>
            </a:r>
            <a:r>
              <a:rPr lang="en-US" sz="3000" b="1" dirty="0" err="1"/>
              <a:t>Aritmatika</a:t>
            </a:r>
            <a:endParaRPr lang="en-ID" sz="3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F8DDD1-E049-4B3B-A95F-45E70DF3D6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916722"/>
                <a:ext cx="10515600" cy="4714710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3.    </a:t>
                </a:r>
                <a:r>
                  <a:rPr lang="en-US" sz="16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Distributif</a:t>
                </a:r>
                <a:endPara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Perhatikan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persamaan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4+5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=3×9=27</m:t>
                    </m:r>
                  </m:oMath>
                </a14:m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dan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×4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3×5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=12+15=27</m:t>
                    </m:r>
                  </m:oMath>
                </a14:m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Dari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sini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dapat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disimpulkan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bahwa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4+5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×4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3×5</m:t>
                        </m:r>
                      </m:e>
                    </m:d>
                  </m:oMath>
                </a14:m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ID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Perkalian</a:t>
                </a:r>
                <a:r>
                  <a:rPr lang="en-ID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mendistribusikan</a:t>
                </a:r>
                <a:r>
                  <a:rPr lang="en-ID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dirinya</a:t>
                </a:r>
                <a:r>
                  <a:rPr lang="en-ID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sendiri</a:t>
                </a:r>
                <a:r>
                  <a:rPr lang="en-ID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terhadap</a:t>
                </a:r>
                <a:r>
                  <a:rPr lang="en-ID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penjumlahan</a:t>
                </a:r>
                <a:r>
                  <a:rPr lang="en-ID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dari</a:t>
                </a:r>
                <a:r>
                  <a:rPr lang="en-ID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kiri</a:t>
                </a:r>
                <a:r>
                  <a:rPr lang="en-ID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dan </a:t>
                </a:r>
                <a:r>
                  <a:rPr lang="en-ID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dari</a:t>
                </a:r>
                <a:r>
                  <a:rPr lang="en-ID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kanan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Contoh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3+4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×5=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3×5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4×5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=35</m:t>
                    </m:r>
                  </m:oMath>
                </a14:m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ID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Perkalian</a:t>
                </a:r>
                <a:r>
                  <a:rPr lang="en-ID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adalah</a:t>
                </a:r>
                <a:r>
                  <a:rPr lang="en-ID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distributif</a:t>
                </a:r>
                <a:r>
                  <a:rPr lang="en-ID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terhadap</a:t>
                </a:r>
                <a:r>
                  <a:rPr lang="en-ID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pengurangan</a:t>
                </a:r>
                <a:r>
                  <a:rPr lang="en-ID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dari</a:t>
                </a:r>
                <a:r>
                  <a:rPr lang="en-ID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kiri</a:t>
                </a:r>
                <a:r>
                  <a:rPr lang="en-ID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dan </a:t>
                </a:r>
                <a:r>
                  <a:rPr lang="en-ID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kanan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Contoh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4−5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3×4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3×5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=−3</m:t>
                    </m:r>
                  </m:oMath>
                </a14:m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dan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3−4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×5=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3×5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4×5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=−5</m:t>
                    </m:r>
                  </m:oMath>
                </a14:m>
                <a:endParaRPr lang="en-ID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D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Pembagian</a:t>
                </a:r>
                <a:r>
                  <a:rPr lang="en-ID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adalah</a:t>
                </a:r>
                <a:r>
                  <a:rPr lang="en-ID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distributif</a:t>
                </a:r>
                <a:r>
                  <a:rPr lang="en-ID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terhadap</a:t>
                </a:r>
                <a:r>
                  <a:rPr lang="en-ID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penjumlahan</a:t>
                </a:r>
                <a:r>
                  <a:rPr lang="en-ID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dan </a:t>
                </a:r>
                <a:r>
                  <a:rPr lang="en-ID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pengurangan</a:t>
                </a:r>
                <a:r>
                  <a:rPr lang="en-ID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dari</a:t>
                </a:r>
                <a:r>
                  <a:rPr lang="en-ID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kanan</a:t>
                </a:r>
                <a:r>
                  <a:rPr lang="en-ID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tapi</a:t>
                </a:r>
                <a:r>
                  <a:rPr lang="en-ID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tidak</a:t>
                </a:r>
                <a:r>
                  <a:rPr lang="en-ID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dari</a:t>
                </a:r>
                <a:r>
                  <a:rPr lang="en-ID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kiri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Contoh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60+15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÷5=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60÷5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15÷5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=15</m:t>
                    </m:r>
                  </m:oMath>
                </a14:m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ID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Tetapi</a:t>
                </a:r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60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÷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15+5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≠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60÷15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+(60÷5)</m:t>
                    </m:r>
                  </m:oMath>
                </a14:m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karena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60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÷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15+5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=60÷20=3</m:t>
                    </m:r>
                  </m:oMath>
                </a14:m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dan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60÷15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60÷5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=4+12=16</m:t>
                    </m:r>
                  </m:oMath>
                </a14:m>
                <a:r>
                  <a:rPr lang="en-ID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F8DDD1-E049-4B3B-A95F-45E70DF3D6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916722"/>
                <a:ext cx="10515600" cy="4714710"/>
              </a:xfrm>
              <a:blipFill>
                <a:blip r:embed="rId2"/>
                <a:stretch>
                  <a:fillRect l="-232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AB59D347-7EC6-4372-A4C2-3C67FF38FFF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5925" y="226568"/>
            <a:ext cx="1288256" cy="1296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9077788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B6E30-E49D-45BC-9835-62C4AD454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760884"/>
          </a:xfrm>
        </p:spPr>
        <p:txBody>
          <a:bodyPr>
            <a:normAutofit/>
          </a:bodyPr>
          <a:lstStyle/>
          <a:p>
            <a:r>
              <a:rPr lang="en-US" sz="3200" b="1"/>
              <a:t>Pembulatan </a:t>
            </a:r>
            <a:endParaRPr lang="id-ID" sz="3200" b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524AF4-9A56-40C9-B955-4411D2FE046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/>
                  <a:t>Suatu bilangan bulat dapat dibulatkan ke sepuluh terdekat dengan ketentuan:</a:t>
                </a:r>
              </a:p>
              <a:p>
                <a:r>
                  <a:rPr lang="en-US" sz="2400"/>
                  <a:t>Pembulatan ke bawah, jika bilangan kurang dari setengah ke kelipatan sepuluh berikutnya, maka dibulatkan ke bawah.</a:t>
                </a:r>
              </a:p>
              <a:p>
                <a:pPr marL="0" indent="0">
                  <a:buNone/>
                </a:pPr>
                <a:endParaRPr lang="en-US" sz="240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53</m:t>
                      </m:r>
                      <m:groupChr>
                        <m:groupChrPr>
                          <m:chr m:val="→"/>
                          <m:vertJc m:val="bot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eqArr>
                            <m:eqArr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brk m:alnAt="2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𝑖𝑏𝑢𝑙𝑎𝑡𝑘𝑎𝑛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m:rPr>
                                  <m:brk m:alnAt="2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𝑏𝑎𝑤𝑎h</m:t>
                              </m:r>
                            </m:e>
                          </m:eqArr>
                        </m:e>
                      </m:groupCh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50</m:t>
                      </m:r>
                    </m:oMath>
                  </m:oMathPara>
                </a14:m>
                <a:endParaRPr lang="en-US" sz="2400"/>
              </a:p>
              <a:p>
                <a:pPr marL="0" indent="0">
                  <a:buNone/>
                </a:pPr>
                <a:endParaRPr lang="en-US" sz="2400"/>
              </a:p>
              <a:p>
                <a:pPr marL="0" indent="0">
                  <a:buNone/>
                </a:pPr>
                <a:endParaRPr lang="id-ID" sz="240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524AF4-9A56-40C9-B955-4411D2FE04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29" t="-498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1270C5AF-0FC9-413A-B2A7-E6FED2546B4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5925" y="226568"/>
            <a:ext cx="1288256" cy="1296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9200872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9CD5D0BD-BD9F-4010-AB39-975D392E137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082233"/>
                <a:ext cx="10515600" cy="5775767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06000" indent="-30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30000" indent="-30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6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900000" indent="-270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4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3pPr>
                <a:lvl4pPr marL="1242000" indent="-234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4pPr>
                <a:lvl5pPr marL="1602000" indent="-234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5pPr>
                <a:lvl6pPr marL="1900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6pPr>
                <a:lvl7pPr marL="2200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7pPr>
                <a:lvl8pPr marL="2500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8pPr>
                <a:lvl9pPr marL="2800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400"/>
                  <a:t>Pembulatan ke atas, jika bilangan lebih dari setengah ke kelipatan sepuluh berikutnya, maka dibulatkan ke atas.</a:t>
                </a:r>
              </a:p>
              <a:p>
                <a:pPr marL="0" indent="0">
                  <a:buFont typeface="Wingdings 2" panose="05020102010507070707" pitchFamily="18" charset="2"/>
                  <a:buNone/>
                </a:pPr>
                <a:endParaRPr lang="en-US" sz="2400"/>
              </a:p>
              <a:p>
                <a:pPr marL="0" indent="0">
                  <a:buFont typeface="Wingdings 2" panose="05020102010507070707" pitchFamily="18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smtClean="0">
                          <a:latin typeface="Cambria Math" panose="02040503050406030204" pitchFamily="18" charset="0"/>
                        </a:rPr>
                        <m:t>39</m:t>
                      </m:r>
                      <m:groupChr>
                        <m:groupChrPr>
                          <m:chr m:val="→"/>
                          <m:vertJc m:val="bot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eqArr>
                            <m:eqArr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brk m:alnAt="2"/>
                                </m:r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𝑖𝑏𝑢𝑙𝑎𝑡𝑘𝑎𝑛</m:t>
                              </m:r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m:rPr>
                                  <m:brk m:alnAt="2"/>
                                </m:r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𝑎𝑡𝑎𝑠</m:t>
                              </m:r>
                            </m:e>
                          </m:eqArr>
                        </m:e>
                      </m:groupCh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40</m:t>
                      </m:r>
                    </m:oMath>
                  </m:oMathPara>
                </a14:m>
                <a:endParaRPr lang="en-US" sz="2400"/>
              </a:p>
              <a:p>
                <a:pPr marL="0" indent="0">
                  <a:buFont typeface="Wingdings 2" panose="05020102010507070707" pitchFamily="18" charset="2"/>
                  <a:buNone/>
                </a:pPr>
                <a:endParaRPr lang="en-US" sz="2400"/>
              </a:p>
              <a:p>
                <a:r>
                  <a:rPr lang="en-US" sz="2400"/>
                  <a:t>Jika bilangan tepat setengah ke kelipatan sepuluh berikutnya, maka dibulatkan ke atas.</a:t>
                </a:r>
              </a:p>
              <a:p>
                <a:pPr marL="0" indent="0">
                  <a:buFont typeface="Wingdings 2" panose="05020102010507070707" pitchFamily="18" charset="2"/>
                  <a:buNone/>
                </a:pPr>
                <a:endParaRPr lang="en-US" sz="2400"/>
              </a:p>
              <a:p>
                <a:pPr marL="0" indent="0">
                  <a:buFont typeface="Wingdings 2" panose="05020102010507070707" pitchFamily="18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5</m:t>
                      </m:r>
                      <m:groupChr>
                        <m:groupChrPr>
                          <m:chr m:val="→"/>
                          <m:vertJc m:val="bot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eqArr>
                            <m:eqArr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brk m:alnAt="2"/>
                                </m:r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𝑖𝑏𝑢𝑙𝑎𝑡𝑘𝑎𝑛</m:t>
                              </m:r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m:rPr>
                                  <m:brk m:alnAt="2"/>
                                </m:r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𝑎𝑡𝑎𝑠</m:t>
                              </m:r>
                            </m:e>
                          </m:eqArr>
                        </m:e>
                      </m:groupCh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40</m:t>
                      </m:r>
                    </m:oMath>
                  </m:oMathPara>
                </a14:m>
                <a:endParaRPr lang="en-US" sz="2400"/>
              </a:p>
              <a:p>
                <a:pPr marL="0" indent="0">
                  <a:buFont typeface="Wingdings 2" panose="05020102010507070707" pitchFamily="18" charset="2"/>
                  <a:buNone/>
                </a:pPr>
                <a:endParaRPr lang="en-US" sz="2400"/>
              </a:p>
              <a:p>
                <a:pPr marL="0" indent="0">
                  <a:buFont typeface="Wingdings 2" panose="05020102010507070707" pitchFamily="18" charset="2"/>
                  <a:buNone/>
                </a:pPr>
                <a:endParaRPr lang="id-ID" sz="2400"/>
              </a:p>
            </p:txBody>
          </p:sp>
        </mc:Choice>
        <mc:Fallback xmlns=""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9CD5D0BD-BD9F-4010-AB39-975D392E13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082233"/>
                <a:ext cx="10515600" cy="5775767"/>
              </a:xfrm>
              <a:prstGeom prst="rect">
                <a:avLst/>
              </a:prstGeom>
              <a:blipFill>
                <a:blip r:embed="rId2"/>
                <a:stretch>
                  <a:fillRect l="-580" t="-845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B6E58F33-F09A-43EF-AFDD-2B1544CD834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5925" y="226568"/>
            <a:ext cx="1288256" cy="1296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4486481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5ECCBFFD-02DA-44F2-888B-5FFC9269C1F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784184"/>
                <a:ext cx="10515600" cy="5289631"/>
              </a:xfrm>
              <a:prstGeom prst="rect">
                <a:avLst/>
              </a:prstGeom>
            </p:spPr>
            <p:txBody>
              <a:bodyPr/>
              <a:lstStyle>
                <a:lvl1pPr marL="306000" indent="-30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30000" indent="-30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6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900000" indent="-270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4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3pPr>
                <a:lvl4pPr marL="1242000" indent="-234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4pPr>
                <a:lvl5pPr marL="1602000" indent="-234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5pPr>
                <a:lvl6pPr marL="1900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6pPr>
                <a:lvl7pPr marL="2200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7pPr>
                <a:lvl8pPr marL="2500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8pPr>
                <a:lvl9pPr marL="2800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Wingdings 2" panose="05020102010507070707" pitchFamily="18" charset="2"/>
                  <a:buNone/>
                </a:pPr>
                <a:r>
                  <a:rPr lang="en-US" sz="2400"/>
                  <a:t>Prinsip tersebut dapat diaplikasikan dalam pembulatan ke terdekat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100, 1000, 10.000 </m:t>
                    </m:r>
                    <m:r>
                      <m:rPr>
                        <m:sty m:val="p"/>
                      </m:rPr>
                      <a:rPr lang="en-US" sz="2400" smtClean="0">
                        <a:latin typeface="Cambria Math" panose="02040503050406030204" pitchFamily="18" charset="0"/>
                      </a:rPr>
                      <m:t>dan</m:t>
                    </m:r>
                    <m:r>
                      <a:rPr lang="en-US" sz="240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smtClean="0">
                        <a:latin typeface="Cambria Math" panose="02040503050406030204" pitchFamily="18" charset="0"/>
                      </a:rPr>
                      <m:t>seterusnya</m:t>
                    </m:r>
                    <m:r>
                      <a:rPr lang="en-US" sz="240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400"/>
              </a:p>
              <a:p>
                <a:pPr marL="0" indent="0">
                  <a:buFont typeface="Wingdings 2" panose="05020102010507070707" pitchFamily="18" charset="2"/>
                  <a:buNone/>
                </a:pPr>
                <a:r>
                  <a:rPr lang="en-US" sz="2400"/>
                  <a:t>Contoh: </a:t>
                </a:r>
              </a:p>
              <a:p>
                <a:pPr marL="0" indent="0" algn="ctr">
                  <a:buFont typeface="Wingdings 2" panose="05020102010507070707" pitchFamily="18" charset="2"/>
                  <a:buNone/>
                </a:pP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349 </m:t>
                    </m:r>
                    <m:groupChr>
                      <m:groupChrPr>
                        <m:chr m:val="→"/>
                        <m:vertJc m:val="bot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eqArr>
                          <m:eqArr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m:rPr>
                                <m:brk m:alnAt="2"/>
                              </m:rP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𝑖𝑏𝑢𝑙𝑎𝑡𝑘𝑎𝑛</m:t>
                            </m:r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𝑘𝑒</m:t>
                            </m:r>
                          </m:e>
                          <m:e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𝑡𝑒𝑟𝑑𝑒𝑘𝑎𝑡</m:t>
                            </m:r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 10</m:t>
                            </m:r>
                          </m:e>
                        </m:eqArr>
                      </m:e>
                    </m:groupChr>
                    <m:r>
                      <a:rPr lang="en-US" sz="2400" i="1" smtClean="0">
                        <a:latin typeface="Cambria Math" panose="02040503050406030204" pitchFamily="18" charset="0"/>
                      </a:rPr>
                      <m:t>350</m:t>
                    </m:r>
                  </m:oMath>
                </a14:m>
                <a:r>
                  <a:rPr lang="en-US" sz="2400"/>
                  <a:t>	(Pembulatan ke atas)</a:t>
                </a:r>
              </a:p>
              <a:p>
                <a:pPr marL="0" indent="0" algn="ctr">
                  <a:buFont typeface="Wingdings 2" panose="05020102010507070707" pitchFamily="18" charset="2"/>
                  <a:buNone/>
                </a:pPr>
                <a:endParaRPr lang="en-US" sz="2400"/>
              </a:p>
              <a:p>
                <a:pPr marL="0" indent="0" algn="ctr">
                  <a:buFont typeface="Wingdings 2" panose="05020102010507070707" pitchFamily="18" charset="2"/>
                  <a:buNone/>
                </a:pP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349 </m:t>
                    </m:r>
                    <m:groupChr>
                      <m:groupChrPr>
                        <m:chr m:val="→"/>
                        <m:vertJc m:val="bot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eqArr>
                          <m:eqArr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m:rPr>
                                <m:brk m:alnAt="2"/>
                              </m:rP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𝑖𝑏𝑢𝑙𝑎𝑡𝑘𝑎𝑛</m:t>
                            </m:r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𝑘𝑒</m:t>
                            </m:r>
                          </m:e>
                          <m:e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𝑡𝑒𝑟𝑑𝑒𝑘𝑎𝑡</m:t>
                            </m:r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 100</m:t>
                            </m:r>
                          </m:e>
                        </m:eqArr>
                      </m:e>
                    </m:groupChr>
                    <m:r>
                      <a:rPr lang="en-US" sz="2400" i="1" smtClean="0">
                        <a:latin typeface="Cambria Math" panose="02040503050406030204" pitchFamily="18" charset="0"/>
                      </a:rPr>
                      <m:t>300</m:t>
                    </m:r>
                  </m:oMath>
                </a14:m>
                <a:r>
                  <a:rPr lang="en-US" sz="2400"/>
                  <a:t>	(Pembulatan ke bawah)</a:t>
                </a:r>
              </a:p>
              <a:p>
                <a:pPr marL="0" indent="0" algn="ctr">
                  <a:buFont typeface="Wingdings 2" panose="05020102010507070707" pitchFamily="18" charset="2"/>
                  <a:buNone/>
                </a:pPr>
                <a:endParaRPr lang="en-US" sz="2400"/>
              </a:p>
              <a:p>
                <a:pPr marL="0" indent="0" algn="ctr">
                  <a:buFont typeface="Wingdings 2" panose="05020102010507070707" pitchFamily="18" charset="2"/>
                  <a:buNone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501 </m:t>
                    </m:r>
                    <m:groupChr>
                      <m:groupChrPr>
                        <m:chr m:val="→"/>
                        <m:vertJc m:val="bot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eqArr>
                          <m:eqArr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m:rPr>
                                <m:brk m:alnAt="2"/>
                              </m:rP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𝑖𝑏𝑢𝑙𝑎𝑡𝑘𝑎𝑛</m:t>
                            </m:r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𝑘𝑒</m:t>
                            </m:r>
                          </m:e>
                          <m:e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𝑡𝑒𝑟𝑑𝑒𝑘𝑎𝑡</m:t>
                            </m:r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 1000</m:t>
                            </m:r>
                          </m:e>
                        </m:eqArr>
                      </m:e>
                    </m:groupChr>
                    <m:r>
                      <a:rPr lang="en-US" sz="2400" i="1" smtClean="0">
                        <a:latin typeface="Cambria Math" panose="02040503050406030204" pitchFamily="18" charset="0"/>
                      </a:rPr>
                      <m:t>3000</m:t>
                    </m:r>
                  </m:oMath>
                </a14:m>
                <a:r>
                  <a:rPr lang="en-US" sz="2400"/>
                  <a:t>	(Pembulatan ke atas)</a:t>
                </a:r>
              </a:p>
              <a:p>
                <a:pPr marL="0" indent="0">
                  <a:buFont typeface="Wingdings 2" panose="05020102010507070707" pitchFamily="18" charset="2"/>
                  <a:buNone/>
                </a:pPr>
                <a:endParaRPr lang="en-US" sz="2400"/>
              </a:p>
              <a:p>
                <a:pPr marL="0" indent="0">
                  <a:buFont typeface="Wingdings 2" panose="05020102010507070707" pitchFamily="18" charset="2"/>
                  <a:buNone/>
                </a:pPr>
                <a:endParaRPr lang="en-US" sz="2400"/>
              </a:p>
              <a:p>
                <a:pPr marL="0" indent="0">
                  <a:buFont typeface="Wingdings 2" panose="05020102010507070707" pitchFamily="18" charset="2"/>
                  <a:buNone/>
                </a:pPr>
                <a:endParaRPr lang="en-US" sz="2400"/>
              </a:p>
              <a:p>
                <a:pPr marL="0" indent="0">
                  <a:buFont typeface="Wingdings 2" panose="05020102010507070707" pitchFamily="18" charset="2"/>
                  <a:buNone/>
                </a:pPr>
                <a:endParaRPr lang="id-ID" sz="2400"/>
              </a:p>
            </p:txBody>
          </p:sp>
        </mc:Choice>
        <mc:Fallback xmlns=""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5ECCBFFD-02DA-44F2-888B-5FFC9269C1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784184"/>
                <a:ext cx="10515600" cy="5289631"/>
              </a:xfrm>
              <a:prstGeom prst="rect">
                <a:avLst/>
              </a:prstGeom>
              <a:blipFill>
                <a:blip r:embed="rId2"/>
                <a:stretch>
                  <a:fillRect l="-928" t="-923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18218DD8-254D-4FCB-898B-F67D33537F4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5925" y="226568"/>
            <a:ext cx="1288256" cy="1296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299867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2764B820-0343-495C-8EC3-A4C633F795C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296785"/>
                <a:ext cx="10515600" cy="4880178"/>
              </a:xfrm>
              <a:prstGeom prst="rect">
                <a:avLst/>
              </a:prstGeom>
            </p:spPr>
            <p:txBody>
              <a:bodyPr/>
              <a:lstStyle>
                <a:lvl1pPr marL="306000" indent="-30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30000" indent="-30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6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900000" indent="-270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4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3pPr>
                <a:lvl4pPr marL="1242000" indent="-234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4pPr>
                <a:lvl5pPr marL="1602000" indent="-234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5pPr>
                <a:lvl6pPr marL="1900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6pPr>
                <a:lvl7pPr marL="2200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7pPr>
                <a:lvl8pPr marL="2500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8pPr>
                <a:lvl9pPr marL="2800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Wingdings 2" panose="05020102010507070707" pitchFamily="18" charset="2"/>
                  <a:buNone/>
                </a:pPr>
                <a:r>
                  <a:rPr lang="en-US" sz="2400"/>
                  <a:t>Lakukan pembulatan pada bilangan-bilangan berikut ke terdekat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10, 100, </m:t>
                    </m:r>
                  </m:oMath>
                </a14:m>
                <a:r>
                  <a:rPr lang="en-US" sz="2400"/>
                  <a:t>dan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1000:</m:t>
                    </m:r>
                  </m:oMath>
                </a14:m>
                <a:endParaRPr lang="en-US" sz="2400"/>
              </a:p>
              <a:p>
                <a:pPr marL="514350" indent="-51435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1846</m:t>
                    </m:r>
                  </m:oMath>
                </a14:m>
                <a:endParaRPr lang="en-US" sz="2400"/>
              </a:p>
              <a:p>
                <a:pPr marL="514350" indent="-51435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−638</m:t>
                    </m:r>
                  </m:oMath>
                </a14:m>
                <a:endParaRPr lang="en-US" sz="2400"/>
              </a:p>
              <a:p>
                <a:pPr marL="514350" indent="-514350">
                  <a:buFont typeface="+mj-lt"/>
                  <a:buAutoNum type="alphaLcParenR"/>
                </a:pPr>
                <a:endParaRPr lang="en-US" sz="2400"/>
              </a:p>
              <a:p>
                <a:pPr marL="0" indent="0">
                  <a:buFont typeface="Wingdings 2" panose="05020102010507070707" pitchFamily="18" charset="2"/>
                  <a:buNone/>
                </a:pPr>
                <a:r>
                  <a:rPr lang="en-US" sz="2400"/>
                  <a:t>Kemudian cobalah mengestimasikan operasi berikut menggunakan pembulatan ke 10 terdekat:</a:t>
                </a:r>
              </a:p>
              <a:p>
                <a:pPr marL="0" indent="0">
                  <a:buFont typeface="Wingdings 2" panose="05020102010507070707" pitchFamily="18" charset="2"/>
                  <a:buNone/>
                </a:pPr>
                <a:endParaRPr lang="en-US" sz="2400"/>
              </a:p>
              <a:p>
                <a:pPr marL="0" indent="0">
                  <a:buFont typeface="Wingdings 2" panose="05020102010507070707" pitchFamily="18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18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×21−19÷11</m:t>
                      </m:r>
                    </m:oMath>
                  </m:oMathPara>
                </a14:m>
                <a:endParaRPr lang="en-US" sz="2400"/>
              </a:p>
            </p:txBody>
          </p:sp>
        </mc:Choice>
        <mc:Fallback xmlns=""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2764B820-0343-495C-8EC3-A4C633F795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296785"/>
                <a:ext cx="10515600" cy="4880178"/>
              </a:xfrm>
              <a:prstGeom prst="rect">
                <a:avLst/>
              </a:prstGeom>
              <a:blipFill>
                <a:blip r:embed="rId2"/>
                <a:stretch>
                  <a:fillRect l="-928" t="-1000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DF404DC7-9783-428A-8DC6-05A88C0CAF1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5925" y="226568"/>
            <a:ext cx="1288256" cy="1296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8599945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0B14D-1762-43C9-960A-32AE58030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744259"/>
          </a:xfrm>
        </p:spPr>
        <p:txBody>
          <a:bodyPr>
            <a:normAutofit/>
          </a:bodyPr>
          <a:lstStyle/>
          <a:p>
            <a:r>
              <a:rPr lang="en-US" sz="3200" b="1" dirty="0"/>
              <a:t>Latihan </a:t>
            </a:r>
            <a:r>
              <a:rPr lang="en-US" sz="3200" b="1" dirty="0" err="1"/>
              <a:t>Soal</a:t>
            </a:r>
            <a:endParaRPr lang="id-ID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381838-D7EA-4D44-9A81-BAF3213889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1192" y="2180496"/>
                <a:ext cx="11029615" cy="4320057"/>
              </a:xfrm>
            </p:spPr>
            <p:txBody>
              <a:bodyPr>
                <a:noAutofit/>
              </a:bodyPr>
              <a:lstStyle/>
              <a:p>
                <a:pPr marL="514350" indent="-514350">
                  <a:buAutoNum type="arabicPeriod"/>
                </a:pPr>
                <a:r>
                  <a:rPr lang="en-US" sz="2000" dirty="0" err="1"/>
                  <a:t>Tempatkan</a:t>
                </a:r>
                <a:r>
                  <a:rPr lang="en-US" sz="2000" dirty="0"/>
                  <a:t> </a:t>
                </a:r>
                <a:r>
                  <a:rPr lang="en-US" sz="2000" dirty="0" err="1"/>
                  <a:t>simbol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 err="1"/>
                  <a:t>atau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en-US" sz="2000" dirty="0"/>
                  <a:t> yang </a:t>
                </a:r>
                <a:r>
                  <a:rPr lang="en-US" sz="2000" dirty="0" err="1"/>
                  <a:t>sesuai</a:t>
                </a:r>
                <a:r>
                  <a:rPr lang="en-US" sz="2000" dirty="0"/>
                  <a:t> </a:t>
                </a:r>
                <a:r>
                  <a:rPr lang="en-US" sz="2000" dirty="0" err="1"/>
                  <a:t>antara</a:t>
                </a:r>
                <a:r>
                  <a:rPr lang="en-US" sz="2000" dirty="0"/>
                  <a:t> masing-masing </a:t>
                </a:r>
                <a:r>
                  <a:rPr lang="en-US" sz="2000" dirty="0" err="1"/>
                  <a:t>pasangan</a:t>
                </a:r>
                <a:r>
                  <a:rPr lang="en-US" sz="2000" dirty="0"/>
                  <a:t> </a:t>
                </a:r>
                <a:r>
                  <a:rPr lang="en-US" sz="2000" dirty="0" err="1"/>
                  <a:t>bilangan</a:t>
                </a:r>
                <a:r>
                  <a:rPr lang="en-US" sz="2000" dirty="0"/>
                  <a:t> </a:t>
                </a:r>
                <a:r>
                  <a:rPr lang="en-US" sz="2000" dirty="0" err="1"/>
                  <a:t>berikut</a:t>
                </a:r>
                <a:r>
                  <a:rPr lang="en-US" sz="2000" dirty="0"/>
                  <a:t>:</a:t>
                </a:r>
              </a:p>
              <a:p>
                <a:pPr marL="1147763" indent="-514350">
                  <a:buAutoNum type="alphaLcPeriod"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−1 … −6</m:t>
                    </m:r>
                  </m:oMath>
                </a14:m>
                <a:endParaRPr lang="en-US" sz="2000" b="0" dirty="0"/>
              </a:p>
              <a:p>
                <a:pPr marL="1147763" indent="-514350">
                  <a:buAutoNum type="alphaLcPeriod"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5 …−29</m:t>
                    </m:r>
                  </m:oMath>
                </a14:m>
                <a:endParaRPr lang="en-US" sz="2000" b="0" dirty="0"/>
              </a:p>
              <a:p>
                <a:pPr marL="1147763" indent="-514350">
                  <a:buAutoNum type="alphaLcPeriod"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−14 …7</m:t>
                    </m:r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2. </a:t>
                </a:r>
                <a:r>
                  <a:rPr lang="en-US" sz="2000" dirty="0" err="1"/>
                  <a:t>Tentukan</a:t>
                </a:r>
                <a:r>
                  <a:rPr lang="en-US" sz="2000" dirty="0"/>
                  <a:t> </a:t>
                </a:r>
                <a:r>
                  <a:rPr lang="en-US" sz="2000" dirty="0" err="1"/>
                  <a:t>nilai</a:t>
                </a:r>
                <a:r>
                  <a:rPr lang="en-US" sz="2000" dirty="0"/>
                  <a:t> </a:t>
                </a:r>
                <a:r>
                  <a:rPr lang="en-US" sz="2000" dirty="0" err="1"/>
                  <a:t>dari</a:t>
                </a:r>
                <a:r>
                  <a:rPr lang="en-US" sz="2000" dirty="0"/>
                  <a:t> masing-masing </a:t>
                </a:r>
                <a:r>
                  <a:rPr lang="en-US" sz="2000" dirty="0" err="1"/>
                  <a:t>berikut</a:t>
                </a:r>
                <a:r>
                  <a:rPr lang="en-US" sz="2000" dirty="0"/>
                  <a:t>:</a:t>
                </a:r>
              </a:p>
              <a:p>
                <a:pPr marL="1147763" indent="-514350">
                  <a:buAutoNum type="alphaLcPeriod"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16−12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×4+8÷2</m:t>
                    </m:r>
                  </m:oMath>
                </a14:m>
                <a:endParaRPr lang="en-US" sz="2000" b="0" dirty="0">
                  <a:ea typeface="Cambria Math" panose="02040503050406030204" pitchFamily="18" charset="0"/>
                </a:endParaRPr>
              </a:p>
              <a:p>
                <a:pPr marL="1147763" indent="-514350">
                  <a:buAutoNum type="alphaLcPeriod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16−12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4+8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÷2</m:t>
                    </m:r>
                  </m:oMath>
                </a14:m>
                <a:endParaRPr lang="en-US" sz="2000" b="0" dirty="0">
                  <a:ea typeface="Cambria Math" panose="02040503050406030204" pitchFamily="18" charset="0"/>
                </a:endParaRPr>
              </a:p>
              <a:p>
                <a:pPr marL="1147763" indent="-514350">
                  <a:buAutoNum type="alphaLcPeriod"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9−3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17+5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5−7</m:t>
                            </m:r>
                          </m:e>
                        </m:d>
                      </m:e>
                    </m:d>
                  </m:oMath>
                </a14:m>
                <a:endParaRPr lang="en-US" sz="2000" b="0" dirty="0"/>
              </a:p>
              <a:p>
                <a:pPr marL="1147763" indent="-514350">
                  <a:buAutoNum type="alphaLcPeriod"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8(3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2+4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−2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5+7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b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381838-D7EA-4D44-9A81-BAF3213889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1192" y="2180496"/>
                <a:ext cx="11029615" cy="4320057"/>
              </a:xfrm>
              <a:blipFill>
                <a:blip r:embed="rId2"/>
                <a:stretch>
                  <a:fillRect l="-5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B7CAA2D8-681F-4508-B9C1-FDC49D65332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5925" y="226568"/>
            <a:ext cx="1288256" cy="1296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0624967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136BD-87DC-4D3D-87E5-F8A9B0B8C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/>
              <a:t>Latihan </a:t>
            </a:r>
            <a:r>
              <a:rPr lang="en-US" sz="2800" b="1" dirty="0" err="1"/>
              <a:t>Soal</a:t>
            </a:r>
            <a:endParaRPr lang="id-ID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108AA5-8588-4303-A58A-9A535D11D3E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1192" y="1845426"/>
                <a:ext cx="11029615" cy="475488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/>
                  <a:t>3. Tunjukkan bahwa:</a:t>
                </a:r>
              </a:p>
              <a:p>
                <a:pPr marL="1030288" indent="-514350">
                  <a:buAutoNum type="alphaLcPeriod"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6−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3−2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6−3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−2</m:t>
                    </m:r>
                  </m:oMath>
                </a14:m>
                <a:endParaRPr lang="en-US" sz="2000" b="0">
                  <a:ea typeface="Cambria Math" panose="02040503050406030204" pitchFamily="18" charset="0"/>
                </a:endParaRPr>
              </a:p>
              <a:p>
                <a:pPr marL="1030288" indent="-514350">
                  <a:buAutoNum type="alphaLcPeriod"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100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10÷5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100÷10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÷5</m:t>
                    </m:r>
                  </m:oMath>
                </a14:m>
                <a:endParaRPr lang="en-US" sz="2000" b="0">
                  <a:ea typeface="Cambria Math" panose="02040503050406030204" pitchFamily="18" charset="0"/>
                </a:endParaRPr>
              </a:p>
              <a:p>
                <a:pPr marL="1030288" indent="-514350">
                  <a:buAutoNum type="alphaLcPeriod"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24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2+6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24÷2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24÷6</m:t>
                        </m:r>
                      </m:e>
                    </m:d>
                  </m:oMath>
                </a14:m>
                <a:endParaRPr lang="en-US" sz="2000" b="0">
                  <a:ea typeface="Cambria Math" panose="02040503050406030204" pitchFamily="18" charset="0"/>
                </a:endParaRPr>
              </a:p>
              <a:p>
                <a:pPr marL="1030288" indent="-514350">
                  <a:buAutoNum type="alphaLcPeriod"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24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÷(2−6)</m:t>
                    </m:r>
                  </m:oMath>
                </a14:m>
                <a:r>
                  <a:rPr lang="en-US" sz="2000" b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24÷2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24÷6</m:t>
                        </m:r>
                      </m:e>
                    </m:d>
                  </m:oMath>
                </a14:m>
                <a:endParaRPr lang="en-US" sz="2000"/>
              </a:p>
              <a:p>
                <a:pPr marL="0" indent="0">
                  <a:buNone/>
                </a:pPr>
                <a:r>
                  <a:rPr lang="en-US" sz="2000"/>
                  <a:t>4. Bulatkan bilangan berikut ke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10, 100, </m:t>
                    </m:r>
                  </m:oMath>
                </a14:m>
                <a:r>
                  <a:rPr lang="en-US" sz="2000"/>
                  <a:t>dan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1000</m:t>
                    </m:r>
                  </m:oMath>
                </a14:m>
                <a:r>
                  <a:rPr lang="en-US" sz="2000"/>
                  <a:t> terdekat:</a:t>
                </a:r>
              </a:p>
              <a:p>
                <a:pPr marL="1030288" indent="-514350">
                  <a:buAutoNum type="alphaLcPeriod"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2562</m:t>
                    </m:r>
                  </m:oMath>
                </a14:m>
                <a:endParaRPr lang="en-US" sz="2000" b="0"/>
              </a:p>
              <a:p>
                <a:pPr marL="1030288" indent="-514350">
                  <a:buAutoNum type="alphaLcPeriod"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1500</m:t>
                    </m:r>
                  </m:oMath>
                </a14:m>
                <a:endParaRPr lang="en-US" sz="2000" b="0"/>
              </a:p>
              <a:p>
                <a:pPr marL="1030288" indent="-514350">
                  <a:buAutoNum type="alphaLcPeriod"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−3451</m:t>
                    </m:r>
                  </m:oMath>
                </a14:m>
                <a:endParaRPr lang="en-US" sz="2000" b="0"/>
              </a:p>
              <a:p>
                <a:pPr marL="1030288" indent="-514350">
                  <a:buAutoNum type="alphaLcPeriod"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−14525</m:t>
                    </m:r>
                  </m:oMath>
                </a14:m>
                <a:endParaRPr lang="id-ID" sz="200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108AA5-8588-4303-A58A-9A535D11D3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1192" y="1845426"/>
                <a:ext cx="11029615" cy="4754880"/>
              </a:xfrm>
              <a:blipFill>
                <a:blip r:embed="rId2"/>
                <a:stretch>
                  <a:fillRect l="-552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446010D8-947B-4E8E-8701-E6940EB7B08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5925" y="226568"/>
            <a:ext cx="1288256" cy="1296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6528985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27A27-1FFF-41D7-A703-299E27701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810760"/>
          </a:xfrm>
        </p:spPr>
        <p:txBody>
          <a:bodyPr>
            <a:normAutofit/>
          </a:bodyPr>
          <a:lstStyle/>
          <a:p>
            <a:r>
              <a:rPr lang="en-US" sz="3200" b="1"/>
              <a:t>Faktor dan Bilangan Prima</a:t>
            </a:r>
            <a:endParaRPr lang="id-ID" sz="3200" b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C38CFA-348C-4023-A5C8-AE005B7989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1193" y="1330036"/>
                <a:ext cx="11029615" cy="6315111"/>
              </a:xfrm>
            </p:spPr>
            <p:txBody>
              <a:bodyPr>
                <a:normAutofit/>
              </a:bodyPr>
              <a:lstStyle/>
              <a:p>
                <a:r>
                  <a:rPr lang="en-US" sz="2400" b="1"/>
                  <a:t>Faktor, </a:t>
                </a:r>
                <a:r>
                  <a:rPr lang="en-US" sz="2400"/>
                  <a:t>setiap pasangan bilangan bulat disebut faktor dari perkalian kedua bilangan bulat tersebut. </a:t>
                </a:r>
              </a:p>
              <a:p>
                <a:pPr marL="0" indent="0">
                  <a:buNone/>
                </a:pPr>
                <a:r>
                  <a:rPr lang="en-US" sz="2400"/>
                  <a:t>Contohnya, bilangan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sz="2400"/>
                  <a:t> dan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US" sz="2400"/>
                  <a:t> adalah factor dari 18 karena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×6=18.</m:t>
                    </m:r>
                  </m:oMath>
                </a14:m>
                <a:r>
                  <a:rPr lang="en-US" sz="2400"/>
                  <a:t> secara lengkap, factor dari bilangan 18 adalah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1, 2, 3, 6, 9, 18</m:t>
                    </m:r>
                  </m:oMath>
                </a14:m>
                <a:r>
                  <a:rPr lang="en-US" sz="2400"/>
                  <a:t> karena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18=1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×18</m:t>
                      </m:r>
                    </m:oMath>
                  </m:oMathPara>
                </a14:m>
                <a:endParaRPr lang="en-US" sz="2400" b="0">
                  <a:ea typeface="Cambria Math" panose="02040503050406030204" pitchFamily="18" charset="0"/>
                </a:endParaRPr>
              </a:p>
              <a:p>
                <a:pPr marL="4740275" indent="0">
                  <a:buNone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×9</m:t>
                    </m:r>
                  </m:oMath>
                </a14:m>
                <a:r>
                  <a:rPr lang="en-US" sz="2400" b="0">
                    <a:ea typeface="Cambria Math" panose="02040503050406030204" pitchFamily="18" charset="0"/>
                  </a:rPr>
                  <a:t> </a:t>
                </a:r>
              </a:p>
              <a:p>
                <a:pPr marL="4740275" indent="0">
                  <a:buNone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=3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×6</m:t>
                    </m:r>
                  </m:oMath>
                </a14:m>
                <a:r>
                  <a:rPr lang="en-US" sz="2400"/>
                  <a:t> </a:t>
                </a:r>
              </a:p>
              <a:p>
                <a:pPr marL="0" indent="0">
                  <a:buNone/>
                </a:pPr>
                <a:r>
                  <a:rPr lang="en-US" sz="2400"/>
                  <a:t>Tentukan factor dari:</a:t>
                </a:r>
              </a:p>
              <a:p>
                <a:pPr marL="514350" indent="-514350">
                  <a:buAutoNum type="alphaLcPeriod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endParaRPr lang="en-US" sz="2400" b="0"/>
              </a:p>
              <a:p>
                <a:pPr marL="514350" indent="-514350">
                  <a:buAutoNum type="alphaLcPeriod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endParaRPr lang="en-US" sz="2400" b="0"/>
              </a:p>
              <a:p>
                <a:pPr marL="4740275" indent="0">
                  <a:buNone/>
                </a:pPr>
                <a:endParaRPr lang="en-US" sz="200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C38CFA-348C-4023-A5C8-AE005B7989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1193" y="1330036"/>
                <a:ext cx="11029615" cy="6315111"/>
              </a:xfrm>
              <a:blipFill>
                <a:blip r:embed="rId2"/>
                <a:stretch>
                  <a:fillRect l="-829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C9100741-5A90-4C4C-808B-E5E68C193DD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5925" y="226568"/>
            <a:ext cx="1288256" cy="1296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7197567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E770F33F-0C87-4532-B255-5E2832C8F9F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581891"/>
                <a:ext cx="9851967" cy="6086475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06000" indent="-30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30000" indent="-30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6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900000" indent="-270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4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3pPr>
                <a:lvl4pPr marL="1242000" indent="-234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4pPr>
                <a:lvl5pPr marL="1602000" indent="-234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5pPr>
                <a:lvl6pPr marL="1900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6pPr>
                <a:lvl7pPr marL="2200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7pPr>
                <a:lvl8pPr marL="2500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8pPr>
                <a:lvl9pPr marL="2800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400" b="1"/>
                  <a:t>Bilangan prima, </a:t>
                </a:r>
                <a:r>
                  <a:rPr lang="en-US" sz="2400"/>
                  <a:t>bilangan bulat yang hanya memiliki dua factor yaitu dirinya sendiri dan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b="1"/>
                  <a:t>. </a:t>
                </a:r>
                <a:r>
                  <a:rPr lang="en-US" sz="2400"/>
                  <a:t>Enam bilangan prima pertama adalah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2, 3, 5, 7, 11, </m:t>
                    </m:r>
                  </m:oMath>
                </a14:m>
                <a:r>
                  <a:rPr lang="en-US" sz="2400"/>
                  <a:t>dan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13.</m:t>
                    </m:r>
                  </m:oMath>
                </a14:m>
                <a:endParaRPr lang="en-US" sz="2400"/>
              </a:p>
              <a:p>
                <a:r>
                  <a:rPr lang="en-US" sz="2400" b="1"/>
                  <a:t>Faktorisasi prima. </a:t>
                </a:r>
                <a:r>
                  <a:rPr lang="en-US" sz="2400"/>
                  <a:t>Setiap bilangan bulat dapat ditulis sebagai hasil dari perkalian yang hanya melibatkan bilangan prima. Untuk mendapatkan faktorisasi prima, bilangan tersebut dibagi dengan kenaikan berturut-turut bilangan prima, jadi:</a:t>
                </a:r>
              </a:p>
              <a:p>
                <a:pPr marL="0" indent="0">
                  <a:buFont typeface="Wingdings 2" panose="05020102010507070707" pitchFamily="18" charset="2"/>
                  <a:buNone/>
                </a:pPr>
                <a:endParaRPr lang="en-US" sz="2400" b="1"/>
              </a:p>
              <a:p>
                <a:pPr marL="0" indent="0">
                  <a:buFont typeface="Wingdings 2" panose="05020102010507070707" pitchFamily="18" charset="2"/>
                  <a:buNone/>
                </a:pPr>
                <a:endParaRPr lang="en-US" sz="2400" b="1"/>
              </a:p>
              <a:p>
                <a:pPr marL="0" indent="0">
                  <a:buFont typeface="Wingdings 2" panose="05020102010507070707" pitchFamily="18" charset="2"/>
                  <a:buNone/>
                </a:pPr>
                <a:endParaRPr lang="en-US" sz="2400" b="1"/>
              </a:p>
              <a:p>
                <a:pPr marL="0" indent="0">
                  <a:buFont typeface="Wingdings 2" panose="05020102010507070707" pitchFamily="18" charset="2"/>
                  <a:buNone/>
                </a:pPr>
                <a:endParaRPr lang="en-US" sz="2400" b="1"/>
              </a:p>
              <a:p>
                <a:pPr marL="0" indent="0">
                  <a:buFont typeface="Wingdings 2" panose="05020102010507070707" pitchFamily="18" charset="2"/>
                  <a:buNone/>
                </a:pPr>
                <a:endParaRPr lang="en-US" sz="2400" b="1"/>
              </a:p>
              <a:p>
                <a:pPr marL="0" indent="0">
                  <a:buFont typeface="Wingdings 2" panose="05020102010507070707" pitchFamily="18" charset="2"/>
                  <a:buNone/>
                </a:pPr>
                <a:r>
                  <a:rPr lang="en-US" sz="2400" b="1"/>
                  <a:t>					</a:t>
                </a:r>
                <a:r>
                  <a:rPr lang="en-US" sz="2400"/>
                  <a:t>jadi,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126=2</m:t>
                    </m:r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×3×7</m:t>
                    </m:r>
                  </m:oMath>
                </a14:m>
                <a:endParaRPr lang="id-ID" sz="2400"/>
              </a:p>
            </p:txBody>
          </p:sp>
        </mc:Choice>
        <mc:Fallback xmlns=""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E770F33F-0C87-4532-B255-5E2832C8F9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81891"/>
                <a:ext cx="9851967" cy="6086475"/>
              </a:xfrm>
              <a:prstGeom prst="rect">
                <a:avLst/>
              </a:prstGeom>
              <a:blipFill>
                <a:blip r:embed="rId2"/>
                <a:stretch>
                  <a:fillRect l="-619" t="-801" r="-495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D2C07D2B-623F-4DF9-9569-060BA3D307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6617" y="3429000"/>
            <a:ext cx="1438334" cy="306064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76DF9A9-C97C-491F-8C75-534027EAD376}"/>
              </a:ext>
            </a:extLst>
          </p:cNvPr>
          <p:cNvSpPr/>
          <p:nvPr/>
        </p:nvSpPr>
        <p:spPr>
          <a:xfrm>
            <a:off x="8445731" y="3879445"/>
            <a:ext cx="3125586" cy="26101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v-SE" sz="2800" i="1"/>
              <a:t>Perhatikan bahwa faktor prima dapat muncul lebih dari satu kali dalam faktorisasi prima</a:t>
            </a:r>
            <a:endParaRPr lang="id-ID" sz="2800" i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15C9C3-2A58-4E2F-BDF1-DE1008FDE2B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5925" y="226568"/>
            <a:ext cx="1288256" cy="1296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983436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CE272-4176-4A72-9B16-A37EAF1DD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777509"/>
          </a:xfrm>
        </p:spPr>
        <p:txBody>
          <a:bodyPr>
            <a:normAutofit/>
          </a:bodyPr>
          <a:lstStyle/>
          <a:p>
            <a:r>
              <a:rPr lang="en-US" sz="3200" b="1"/>
              <a:t>Teorema Dasar Aritmatika</a:t>
            </a:r>
            <a:endParaRPr lang="id-ID" sz="3200" b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2F8DD5-BB42-4AD6-901C-ECF92607F97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1193" y="1847987"/>
                <a:ext cx="11029615" cy="5234457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2200"/>
                  <a:t>Teorema dasar aritmatika menyatakan bahwa </a:t>
                </a:r>
              </a:p>
              <a:p>
                <a:pPr marL="0" indent="0" algn="ctr">
                  <a:buNone/>
                </a:pPr>
                <a:r>
                  <a:rPr lang="en-US" sz="2200" b="1" i="1"/>
                  <a:t>“Faktorisasi prima dari bilangan asli </a:t>
                </a:r>
                <a14:m>
                  <m:oMath xmlns:m="http://schemas.openxmlformats.org/officeDocument/2006/math">
                    <m:r>
                      <a:rPr lang="en-US" sz="2200" b="1" i="1" smtClean="0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US" sz="2200" b="1" i="1"/>
                  <a:t> adalah unik atau tunggal”</a:t>
                </a:r>
                <a:endParaRPr lang="en-US" sz="2200"/>
              </a:p>
              <a:p>
                <a:pPr marL="0" indent="0">
                  <a:buNone/>
                </a:pPr>
                <a:r>
                  <a:rPr lang="en-US" sz="2200"/>
                  <a:t>Contoh:</a:t>
                </a:r>
              </a:p>
              <a:p>
                <a:pPr marL="0" indent="0">
                  <a:buNone/>
                </a:pPr>
                <a:r>
                  <a:rPr lang="en-US" sz="2200"/>
                  <a:t>Faktorisasi prima dari b</a:t>
                </a:r>
                <a:r>
                  <a:rPr lang="en-US" sz="2200" b="0"/>
                  <a:t>ilangan </a:t>
                </a:r>
                <a14:m>
                  <m:oMath xmlns:m="http://schemas.openxmlformats.org/officeDocument/2006/math">
                    <m:r>
                      <a:rPr lang="en-US" sz="2200" b="0" i="0" smtClean="0">
                        <a:latin typeface="Cambria Math" panose="02040503050406030204" pitchFamily="18" charset="0"/>
                      </a:rPr>
                      <m:t>126 </m:t>
                    </m:r>
                  </m:oMath>
                </a14:m>
                <a:r>
                  <a:rPr lang="id-ID" sz="2200"/>
                  <a:t>d</a:t>
                </a:r>
                <a:r>
                  <a:rPr lang="en-US" sz="2200"/>
                  <a:t>apat ditulis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126=2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×3×7</m:t>
                    </m:r>
                  </m:oMath>
                </a14:m>
                <a:r>
                  <a:rPr lang="en-US" sz="2200"/>
                  <a:t> atau dengan mengatur ulang urutan factor prima menjadi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126=2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×7×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×3</m:t>
                    </m:r>
                  </m:oMath>
                </a14:m>
                <a:r>
                  <a:rPr lang="en-US" sz="2200"/>
                  <a:t> dan sebagainya, tetapi akan selalu terdiri dari satu bilangan 2, dua bilang 3, dan satu bilangan 7</a:t>
                </a:r>
              </a:p>
              <a:p>
                <a:pPr marL="0" indent="0">
                  <a:buNone/>
                </a:pPr>
                <a:r>
                  <a:rPr lang="en-US" sz="2200"/>
                  <a:t>Tentukan faktorisasi prima dari:</a:t>
                </a:r>
              </a:p>
              <a:p>
                <a:pPr marL="514350" indent="-514350">
                  <a:buAutoNum type="alphaLcPeriod"/>
                </a:pP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84</m:t>
                    </m:r>
                  </m:oMath>
                </a14:m>
                <a:endParaRPr lang="en-US" sz="2200" b="0"/>
              </a:p>
              <a:p>
                <a:pPr marL="514350" indent="-514350">
                  <a:buAutoNum type="alphaLcPeriod"/>
                </a:pP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512</m:t>
                    </m:r>
                  </m:oMath>
                </a14:m>
                <a:endParaRPr lang="id-ID" sz="2200"/>
              </a:p>
              <a:p>
                <a:pPr marL="0" indent="0">
                  <a:buNone/>
                </a:pPr>
                <a:endParaRPr lang="id-ID" sz="220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2F8DD5-BB42-4AD6-901C-ECF92607F9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1193" y="1847987"/>
                <a:ext cx="11029615" cy="5234457"/>
              </a:xfrm>
              <a:blipFill>
                <a:blip r:embed="rId2"/>
                <a:stretch>
                  <a:fillRect l="-718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55613C73-FFB0-44F0-A291-DA0BFB370AE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5925" y="226568"/>
            <a:ext cx="1288256" cy="1296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0770937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9C434-2013-43A6-A52E-69B857F18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794135"/>
          </a:xfrm>
        </p:spPr>
        <p:txBody>
          <a:bodyPr>
            <a:normAutofit/>
          </a:bodyPr>
          <a:lstStyle/>
          <a:p>
            <a:r>
              <a:rPr lang="en-US" sz="3200" b="1"/>
              <a:t>Faktor Persekutuan terBesar (FPB)</a:t>
            </a:r>
            <a:endParaRPr lang="id-ID" sz="3200" b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A79442-36CC-4C91-B3C4-BC0355DD1B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 err="1"/>
                  <a:t>Faktor</a:t>
                </a:r>
                <a:r>
                  <a:rPr lang="en-US" sz="2400" dirty="0"/>
                  <a:t> </a:t>
                </a:r>
                <a:r>
                  <a:rPr lang="en-US" sz="2400" dirty="0" err="1"/>
                  <a:t>persekutuan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terbesar</a:t>
                </a:r>
                <a:r>
                  <a:rPr lang="en-US" sz="2400" dirty="0"/>
                  <a:t> (FPB) </a:t>
                </a:r>
                <a:r>
                  <a:rPr lang="en-US" sz="2400" dirty="0" err="1"/>
                  <a:t>dari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dua</a:t>
                </a:r>
                <a:r>
                  <a:rPr lang="en-US" sz="2400" dirty="0"/>
                  <a:t> </a:t>
                </a:r>
                <a:r>
                  <a:rPr lang="en-US" sz="2400" dirty="0" err="1"/>
                  <a:t>bilangan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bulat</a:t>
                </a:r>
                <a:r>
                  <a:rPr lang="en-US" sz="2400" dirty="0"/>
                  <a:t> </a:t>
                </a:r>
                <a:r>
                  <a:rPr lang="en-US" sz="2400" dirty="0" err="1"/>
                  <a:t>adalah</a:t>
                </a:r>
                <a:r>
                  <a:rPr lang="en-US" sz="2400" dirty="0"/>
                  <a:t> factor </a:t>
                </a:r>
                <a:r>
                  <a:rPr lang="en-US" sz="2400" dirty="0" err="1"/>
                  <a:t>terbesar</a:t>
                </a:r>
                <a:r>
                  <a:rPr lang="en-US" sz="2400" dirty="0"/>
                  <a:t> yang </a:t>
                </a:r>
                <a:r>
                  <a:rPr lang="en-US" sz="2400" dirty="0" err="1"/>
                  <a:t>sama</a:t>
                </a:r>
                <a:r>
                  <a:rPr lang="en-US" sz="2400" dirty="0"/>
                  <a:t> yang </a:t>
                </a:r>
                <a:r>
                  <a:rPr lang="en-US" sz="2400" dirty="0" err="1"/>
                  <a:t>dimiliki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kedua</a:t>
                </a:r>
                <a:r>
                  <a:rPr lang="en-US" sz="2400" dirty="0"/>
                  <a:t> </a:t>
                </a:r>
                <a:r>
                  <a:rPr lang="en-US" sz="2400" dirty="0" err="1"/>
                  <a:t>bilangan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tersebut</a:t>
                </a:r>
                <a:r>
                  <a:rPr lang="en-US" sz="2400" dirty="0"/>
                  <a:t>. </a:t>
                </a:r>
              </a:p>
              <a:p>
                <a:pPr marL="0" indent="0">
                  <a:buNone/>
                </a:pPr>
                <a:r>
                  <a:rPr lang="en-US" sz="2400" dirty="0" err="1"/>
                  <a:t>Contoh</a:t>
                </a:r>
                <a:r>
                  <a:rPr lang="en-US" sz="2400" dirty="0"/>
                  <a:t>, </a:t>
                </a:r>
                <a:r>
                  <a:rPr lang="en-US" sz="2400" dirty="0" err="1"/>
                  <a:t>faktorisasi</a:t>
                </a:r>
                <a:r>
                  <a:rPr lang="en-US" sz="2400" dirty="0"/>
                  <a:t> prima </a:t>
                </a:r>
                <a:r>
                  <a:rPr lang="en-US" sz="2400" dirty="0" err="1"/>
                  <a:t>dari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144</m:t>
                    </m:r>
                  </m:oMath>
                </a14:m>
                <a:r>
                  <a:rPr lang="en-US" sz="2400" dirty="0"/>
                  <a:t> dan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66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 err="1"/>
                  <a:t>adalah</a:t>
                </a:r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144=2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×2×2×2×3×3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66=2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×3×11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 err="1"/>
                  <a:t>Hanya</a:t>
                </a:r>
                <a:r>
                  <a:rPr lang="en-US" sz="2400" dirty="0"/>
                  <a:t> 2 dan 3 yang </a:t>
                </a:r>
                <a:r>
                  <a:rPr lang="en-US" sz="2400" dirty="0" err="1"/>
                  <a:t>sama</a:t>
                </a:r>
                <a:r>
                  <a:rPr lang="en-US" sz="2400" dirty="0"/>
                  <a:t> </a:t>
                </a:r>
                <a:r>
                  <a:rPr lang="en-US" sz="2400" dirty="0" err="1"/>
                  <a:t>untuk</a:t>
                </a:r>
                <a:r>
                  <a:rPr lang="en-US" sz="2400" dirty="0"/>
                  <a:t> </a:t>
                </a:r>
                <a:r>
                  <a:rPr lang="en-US" sz="2400" dirty="0" err="1"/>
                  <a:t>kedua</a:t>
                </a:r>
                <a:r>
                  <a:rPr lang="en-US" sz="2400" dirty="0"/>
                  <a:t> </a:t>
                </a:r>
                <a:r>
                  <a:rPr lang="en-US" sz="2400" dirty="0" err="1"/>
                  <a:t>faktorisasi</a:t>
                </a:r>
                <a:r>
                  <a:rPr lang="en-US" sz="2400" dirty="0"/>
                  <a:t>, </a:t>
                </a:r>
                <a:r>
                  <a:rPr lang="en-US" sz="2400" dirty="0" err="1"/>
                  <a:t>sehingga</a:t>
                </a:r>
                <a:r>
                  <a:rPr lang="en-US" sz="2400" dirty="0"/>
                  <a:t> factor </a:t>
                </a:r>
                <a:r>
                  <a:rPr lang="en-US" sz="2400" dirty="0" err="1"/>
                  <a:t>persekutuan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terbesar</a:t>
                </a:r>
                <a:r>
                  <a:rPr lang="en-US" sz="2400" dirty="0"/>
                  <a:t> </a:t>
                </a:r>
                <a:r>
                  <a:rPr lang="en-US" sz="2400" dirty="0" err="1"/>
                  <a:t>dari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144</m:t>
                    </m:r>
                  </m:oMath>
                </a14:m>
                <a:r>
                  <a:rPr lang="en-US" sz="2400" dirty="0"/>
                  <a:t> dan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66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 err="1"/>
                  <a:t>adalah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×3=6.</m:t>
                    </m:r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*</a:t>
                </a:r>
                <a:r>
                  <a:rPr lang="en-US" sz="2400" dirty="0" err="1"/>
                  <a:t>Kunci</a:t>
                </a:r>
                <a:r>
                  <a:rPr lang="en-US" sz="2400" dirty="0"/>
                  <a:t>: FPB </a:t>
                </a:r>
                <a:r>
                  <a:rPr lang="en-US" sz="2400" dirty="0" err="1"/>
                  <a:t>pilih</a:t>
                </a:r>
                <a:r>
                  <a:rPr lang="en-US" sz="2400" dirty="0"/>
                  <a:t> factor prima yang </a:t>
                </a:r>
                <a:r>
                  <a:rPr lang="en-US" sz="2400" dirty="0" err="1"/>
                  <a:t>sama</a:t>
                </a:r>
                <a:r>
                  <a:rPr lang="en-US" sz="2400" dirty="0"/>
                  <a:t> </a:t>
                </a:r>
                <a:r>
                  <a:rPr lang="en-US" sz="2400" dirty="0" err="1"/>
                  <a:t>dengan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pangkat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terkecil</a:t>
                </a: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A79442-36CC-4C91-B3C4-BC0355DD1B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05" t="-344" b="-30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BE15EA97-C26A-458D-84C9-88EAF454EBF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5925" y="226568"/>
            <a:ext cx="1288256" cy="1296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4206486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7B428-4547-46A7-B512-01C8B7550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844011"/>
          </a:xfrm>
        </p:spPr>
        <p:txBody>
          <a:bodyPr>
            <a:normAutofit/>
          </a:bodyPr>
          <a:lstStyle/>
          <a:p>
            <a:r>
              <a:rPr lang="en-US" sz="3200" b="1"/>
              <a:t>Kelipatan Persekutuan terKecil (KPK)</a:t>
            </a:r>
            <a:endParaRPr lang="id-ID" sz="3200" b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9BE6C5-A03E-4034-840E-7558649C8A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id-ID" sz="2400" dirty="0"/>
                  <a:t>Bilangan bulat terkecil yang dibagi oleh masing-masing pasangan bilangan bulat menjadi </a:t>
                </a:r>
                <a14:m>
                  <m:oMath xmlns:m="http://schemas.openxmlformats.org/officeDocument/2006/math">
                    <m:r>
                      <a:rPr lang="id-ID" sz="240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400" dirty="0"/>
                  <a:t> </a:t>
                </a:r>
                <a:r>
                  <a:rPr lang="id-ID" sz="2400" dirty="0"/>
                  <a:t>bilangan bulat disebut kelipatan persekutuan terendah (KPK). Ini juga</a:t>
                </a:r>
                <a:r>
                  <a:rPr lang="en-US" sz="2400" dirty="0"/>
                  <a:t> </a:t>
                </a:r>
                <a:r>
                  <a:rPr lang="id-ID" sz="2400" dirty="0"/>
                  <a:t>ditemukan dari </a:t>
                </a:r>
                <a:r>
                  <a:rPr lang="id-ID" sz="2400" dirty="0" err="1"/>
                  <a:t>faktorisasi</a:t>
                </a:r>
                <a:r>
                  <a:rPr lang="id-ID" sz="2400" dirty="0"/>
                  <a:t> prima dari masing-masing dua bilangan tersebut. Sebagai contoh:</a:t>
                </a: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144=2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×2×2×2×3×3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66=2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×3×11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 err="1"/>
                  <a:t>Sehingga</a:t>
                </a:r>
                <a:r>
                  <a:rPr lang="en-US" sz="2400" dirty="0"/>
                  <a:t>, </a:t>
                </a:r>
              </a:p>
              <a:p>
                <a:pPr marL="0" indent="0">
                  <a:buNone/>
                </a:pPr>
                <a:r>
                  <a:rPr lang="en-US" sz="2400" dirty="0"/>
                  <a:t>KPK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×2×2×2×3×3×11=1584</m:t>
                    </m:r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*</a:t>
                </a:r>
                <a:r>
                  <a:rPr lang="en-US" sz="2400" dirty="0" err="1"/>
                  <a:t>Kunci</a:t>
                </a:r>
                <a:r>
                  <a:rPr lang="en-US" sz="2400" dirty="0"/>
                  <a:t>: KPK </a:t>
                </a:r>
                <a:r>
                  <a:rPr lang="en-US" sz="2400" dirty="0" err="1"/>
                  <a:t>pilih</a:t>
                </a:r>
                <a:r>
                  <a:rPr lang="en-US" sz="2400" dirty="0"/>
                  <a:t> factor prima </a:t>
                </a:r>
                <a:r>
                  <a:rPr lang="en-US" sz="2400" dirty="0" err="1"/>
                  <a:t>pangkat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terbesar</a:t>
                </a: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9BE6C5-A03E-4034-840E-7558649C8A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05" t="-7560" b="-103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C638A990-53DC-45DB-9534-6DBE80A097A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5925" y="226568"/>
            <a:ext cx="1288256" cy="1296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385769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880D0-6638-4DA5-9E6B-F92FB09CD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777509"/>
          </a:xfrm>
        </p:spPr>
        <p:txBody>
          <a:bodyPr>
            <a:normAutofit/>
          </a:bodyPr>
          <a:lstStyle/>
          <a:p>
            <a:r>
              <a:rPr lang="en-US" sz="3000" b="1"/>
              <a:t>Latihan Soal</a:t>
            </a:r>
            <a:endParaRPr lang="id-ID" sz="3000" b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6B7F3D-3606-4697-8DC2-9C4AEEBB9F7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1192" y="1998746"/>
                <a:ext cx="11029615" cy="4502937"/>
              </a:xfrm>
            </p:spPr>
            <p:txBody>
              <a:bodyPr>
                <a:normAutofit/>
              </a:bodyPr>
              <a:lstStyle/>
              <a:p>
                <a:pPr marL="514350" indent="-514350">
                  <a:buAutoNum type="arabicPeriod"/>
                </a:pPr>
                <a:r>
                  <a:rPr lang="en-US" sz="2400" dirty="0" err="1"/>
                  <a:t>Tuliskan</a:t>
                </a:r>
                <a:r>
                  <a:rPr lang="en-US" sz="2400" dirty="0"/>
                  <a:t> masing-masing </a:t>
                </a:r>
                <a:r>
                  <a:rPr lang="en-US" sz="2400" dirty="0" err="1"/>
                  <a:t>berikut</a:t>
                </a:r>
                <a:r>
                  <a:rPr lang="en-US" sz="2400" dirty="0"/>
                  <a:t> </a:t>
                </a:r>
                <a:r>
                  <a:rPr lang="en-US" sz="2400" dirty="0" err="1"/>
                  <a:t>sebagai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hasil</a:t>
                </a:r>
                <a:r>
                  <a:rPr lang="en-US" sz="2400" dirty="0"/>
                  <a:t> </a:t>
                </a:r>
                <a:r>
                  <a:rPr lang="en-US" sz="2400" dirty="0" err="1"/>
                  <a:t>perkaliaan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dari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faktor</a:t>
                </a:r>
                <a:r>
                  <a:rPr lang="en-US" sz="2400" dirty="0"/>
                  <a:t> prima:</a:t>
                </a:r>
              </a:p>
              <a:p>
                <a:pPr marL="1030288" indent="-514350">
                  <a:buAutoNum type="alphaLcPeriod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429 </m:t>
                    </m:r>
                  </m:oMath>
                </a14:m>
                <a:endParaRPr lang="en-US" sz="2400" b="0" dirty="0"/>
              </a:p>
              <a:p>
                <a:pPr marL="1030288" indent="-514350">
                  <a:buAutoNum type="alphaLcPeriod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1820</m:t>
                    </m:r>
                  </m:oMath>
                </a14:m>
                <a:endParaRPr lang="en-US" sz="2400" b="0" dirty="0"/>
              </a:p>
              <a:p>
                <a:pPr marL="1030288" indent="-514350">
                  <a:buAutoNum type="alphaLcPeriod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2992</m:t>
                    </m:r>
                  </m:oMath>
                </a14:m>
                <a:endParaRPr lang="en-US" sz="2400" b="0" dirty="0"/>
              </a:p>
              <a:p>
                <a:pPr marL="1030288" indent="-514350">
                  <a:buAutoNum type="alphaLcPeriod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3185 </m:t>
                    </m:r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2. </a:t>
                </a:r>
                <a:r>
                  <a:rPr lang="en-US" sz="2400" dirty="0" err="1"/>
                  <a:t>Tentukan</a:t>
                </a:r>
                <a:r>
                  <a:rPr lang="en-US" sz="2400" dirty="0"/>
                  <a:t> FPB dan KPK </a:t>
                </a:r>
                <a:r>
                  <a:rPr lang="en-US" sz="2400" dirty="0" err="1"/>
                  <a:t>dari</a:t>
                </a:r>
                <a:r>
                  <a:rPr lang="en-US" sz="2400" dirty="0"/>
                  <a:t> masing-masing </a:t>
                </a:r>
                <a:r>
                  <a:rPr lang="en-US" sz="2400" dirty="0" err="1"/>
                  <a:t>pasangan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bilangan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berikut</a:t>
                </a:r>
                <a:r>
                  <a:rPr lang="en-US" sz="2400" dirty="0"/>
                  <a:t>:</a:t>
                </a:r>
              </a:p>
              <a:p>
                <a:pPr marL="1030288" indent="-514350">
                  <a:buAutoNum type="alphaLcPeriod"/>
                </a:pPr>
                <a:r>
                  <a:rPr lang="en-US" sz="2400" dirty="0"/>
                  <a:t>63 dan 42</a:t>
                </a:r>
              </a:p>
              <a:p>
                <a:pPr marL="1030288" indent="-514350">
                  <a:buAutoNum type="alphaLcPeriod"/>
                </a:pPr>
                <a:r>
                  <a:rPr lang="en-US" sz="2400" dirty="0"/>
                  <a:t>92 dan 34</a:t>
                </a:r>
                <a:endParaRPr lang="id-ID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6B7F3D-3606-4697-8DC2-9C4AEEBB9F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1192" y="1998746"/>
                <a:ext cx="11029615" cy="4502937"/>
              </a:xfrm>
              <a:blipFill>
                <a:blip r:embed="rId3"/>
                <a:stretch>
                  <a:fillRect l="-829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25056183-53CB-4195-9C3B-DA97A3AF33E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5925" y="226568"/>
            <a:ext cx="1288256" cy="1296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4310433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433</TotalTime>
  <Words>2166</Words>
  <Application>Microsoft Office PowerPoint</Application>
  <PresentationFormat>Widescreen</PresentationFormat>
  <Paragraphs>251</Paragraphs>
  <Slides>26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Arial</vt:lpstr>
      <vt:lpstr>Arial Black</vt:lpstr>
      <vt:lpstr>Arial Rounded MT Bold</vt:lpstr>
      <vt:lpstr>Calibri</vt:lpstr>
      <vt:lpstr>Cambria Math</vt:lpstr>
      <vt:lpstr>Gill Sans MT</vt:lpstr>
      <vt:lpstr>Times New Roman</vt:lpstr>
      <vt:lpstr>Wingdings 2</vt:lpstr>
      <vt:lpstr>Dividend</vt:lpstr>
      <vt:lpstr>Jenis-jenis bilangan</vt:lpstr>
      <vt:lpstr>Pretests </vt:lpstr>
      <vt:lpstr>Pretests </vt:lpstr>
      <vt:lpstr>Pretests </vt:lpstr>
      <vt:lpstr>Jenis-Jenis Bilangan</vt:lpstr>
      <vt:lpstr>PowerPoint Presentation</vt:lpstr>
      <vt:lpstr>PowerPoint Presentation</vt:lpstr>
      <vt:lpstr>Perkalian dan Pembagian</vt:lpstr>
      <vt:lpstr>Tanda Kurung dan Aturan Prioritas</vt:lpstr>
      <vt:lpstr>PowerPoint Presentation</vt:lpstr>
      <vt:lpstr>Tanda Kurung dan Aturan Prioritas</vt:lpstr>
      <vt:lpstr>Hukum Dasar Aritmatika</vt:lpstr>
      <vt:lpstr>Hukum Dasar Aritmatika</vt:lpstr>
      <vt:lpstr>Hukum Dasar Aritmatika</vt:lpstr>
      <vt:lpstr>Pembulatan </vt:lpstr>
      <vt:lpstr>PowerPoint Presentation</vt:lpstr>
      <vt:lpstr>PowerPoint Presentation</vt:lpstr>
      <vt:lpstr>PowerPoint Presentation</vt:lpstr>
      <vt:lpstr>Latihan Soal</vt:lpstr>
      <vt:lpstr>Latihan Soal</vt:lpstr>
      <vt:lpstr>Faktor dan Bilangan Prima</vt:lpstr>
      <vt:lpstr>PowerPoint Presentation</vt:lpstr>
      <vt:lpstr>Teorema Dasar Aritmatika</vt:lpstr>
      <vt:lpstr>Faktor Persekutuan terBesar (FPB)</vt:lpstr>
      <vt:lpstr>Kelipatan Persekutuan terKecil (KPK)</vt:lpstr>
      <vt:lpstr>Latihan Soal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Jenis-jenis bilangan</dc:title>
  <dc:creator>ASUS</dc:creator>
  <cp:lastModifiedBy>Lenovo Ultra7</cp:lastModifiedBy>
  <cp:revision>23</cp:revision>
  <dcterms:created xsi:type="dcterms:W3CDTF">2021-08-30T21:51:41Z</dcterms:created>
  <dcterms:modified xsi:type="dcterms:W3CDTF">2025-08-27T04:47:55Z</dcterms:modified>
</cp:coreProperties>
</file>